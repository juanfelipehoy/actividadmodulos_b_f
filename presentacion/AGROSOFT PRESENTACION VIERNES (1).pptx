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4" r:id="rId9"/>
    <p:sldId id="277" r:id="rId10"/>
    <p:sldId id="278" r:id="rId11"/>
    <p:sldId id="265" r:id="rId12"/>
    <p:sldId id="266" r:id="rId13"/>
    <p:sldId id="267" r:id="rId14"/>
    <p:sldId id="268" r:id="rId15"/>
    <p:sldId id="279" r:id="rId16"/>
    <p:sldId id="270" r:id="rId17"/>
    <p:sldId id="272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51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96" y="6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55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26" Type="http://schemas.openxmlformats.org/officeDocument/2006/relationships/image" Target="../media/image78.png"/><Relationship Id="rId3" Type="http://schemas.openxmlformats.org/officeDocument/2006/relationships/image" Target="../media/image55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5" Type="http://schemas.openxmlformats.org/officeDocument/2006/relationships/image" Target="../media/image77.pn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24" Type="http://schemas.openxmlformats.org/officeDocument/2006/relationships/image" Target="../media/image76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23" Type="http://schemas.openxmlformats.org/officeDocument/2006/relationships/image" Target="../media/image75.png"/><Relationship Id="rId28" Type="http://schemas.openxmlformats.org/officeDocument/2006/relationships/image" Target="../media/image80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4.png"/><Relationship Id="rId27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10" Type="http://schemas.openxmlformats.org/officeDocument/2006/relationships/image" Target="../media/image37.png"/><Relationship Id="rId4" Type="http://schemas.openxmlformats.org/officeDocument/2006/relationships/image" Target="../media/image91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26" Type="http://schemas.openxmlformats.org/officeDocument/2006/relationships/image" Target="../media/image133.png"/><Relationship Id="rId3" Type="http://schemas.openxmlformats.org/officeDocument/2006/relationships/image" Target="../media/image110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2" Type="http://schemas.openxmlformats.org/officeDocument/2006/relationships/image" Target="../media/image109.png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24" Type="http://schemas.openxmlformats.org/officeDocument/2006/relationships/image" Target="../media/image131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Relationship Id="rId27" Type="http://schemas.openxmlformats.org/officeDocument/2006/relationships/image" Target="../media/image1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8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512" y="3667125"/>
            <a:ext cx="6276975" cy="2133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037" y="3676650"/>
            <a:ext cx="6257925" cy="409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512" y="4019549"/>
            <a:ext cx="6257925" cy="1704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637" y="4481512"/>
            <a:ext cx="1806624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2762" y="4481512"/>
            <a:ext cx="1806624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9886" y="4314825"/>
            <a:ext cx="1806624" cy="1247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00588" y="1562100"/>
            <a:ext cx="6590823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FFFFFF"/>
                </a:solidFill>
                <a:latin typeface="Plus Jakarta Sans ExtraBold"/>
              </a:rPr>
              <a:t>AGROSOFT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7512" y="2466975"/>
            <a:ext cx="6276975" cy="344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lang="es-US" sz="1950" dirty="0">
                <a:solidFill>
                  <a:srgbClr val="A7F3D0"/>
                </a:solidFill>
                <a:latin typeface="Plus Jakarta Sans"/>
              </a:rPr>
              <a:t>Sistema para </a:t>
            </a:r>
            <a:r>
              <a:rPr sz="1950" b="0" i="0" u="none" dirty="0">
                <a:solidFill>
                  <a:srgbClr val="A7F3D0"/>
                </a:solidFill>
                <a:latin typeface="Plus Jakarta Sans"/>
              </a:rPr>
              <a:t>la </a:t>
            </a:r>
            <a:r>
              <a:rPr sz="1950" b="0" i="0" u="none" dirty="0" err="1">
                <a:solidFill>
                  <a:srgbClr val="A7F3D0"/>
                </a:solidFill>
                <a:latin typeface="Plus Jakarta Sans"/>
              </a:rPr>
              <a:t>gestión</a:t>
            </a:r>
            <a:r>
              <a:rPr sz="1950" b="0" i="0" u="none" dirty="0">
                <a:solidFill>
                  <a:srgbClr val="A7F3D0"/>
                </a:solidFill>
                <a:latin typeface="Plus Jakarta Sans"/>
              </a:rPr>
              <a:t> </a:t>
            </a:r>
            <a:r>
              <a:rPr sz="1950" b="0" i="0" u="none" dirty="0" err="1">
                <a:solidFill>
                  <a:srgbClr val="A7F3D0"/>
                </a:solidFill>
                <a:latin typeface="Plus Jakarta Sans"/>
              </a:rPr>
              <a:t>agrícola</a:t>
            </a:r>
            <a:endParaRPr sz="1950" b="0" i="0" u="none" dirty="0">
              <a:solidFill>
                <a:srgbClr val="A7F3D0"/>
              </a:solidFill>
              <a:latin typeface="Plus Jakarta San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57537" y="3829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28987" y="3829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00437" y="3829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137" y="3790950"/>
            <a:ext cx="2057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agrosoft-platform.web.app/dashboard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6137" y="4672012"/>
            <a:ext cx="142562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EE7B7"/>
                </a:solidFill>
                <a:latin typeface="Inter"/>
              </a:rPr>
              <a:t>Cultivos Activos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6137" y="4872037"/>
            <a:ext cx="149690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3262" y="4672012"/>
            <a:ext cx="142562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EE7B7"/>
                </a:solidFill>
                <a:latin typeface="Inter"/>
              </a:rPr>
              <a:t>Lotes Registrados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3262" y="4872037"/>
            <a:ext cx="149690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8 Terrenos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0386" y="4505325"/>
            <a:ext cx="142562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EE7B7"/>
                </a:solidFill>
                <a:latin typeface="Inter"/>
              </a:rPr>
              <a:t>Usuarios del Sistema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0386" y="4705350"/>
            <a:ext cx="149690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4 Roles Activos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633912"/>
            <a:ext cx="11049000" cy="666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8862"/>
            <a:ext cx="3524250" cy="2019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28862"/>
            <a:ext cx="3524250" cy="2019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328862"/>
            <a:ext cx="3524250" cy="2019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¿Qué está pasando en la gestión agrícola?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824412"/>
            <a:ext cx="10620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065F46"/>
                </a:solidFill>
                <a:latin typeface="Inter SemiBold"/>
              </a:rPr>
              <a:t>“El campo genera información constantemente. Gestionarla correctamente es el verdadero desafío.”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24137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3033712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Plus Jakarta Sans"/>
              </a:rPr>
              <a:t>Operaciones Agrícolas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367087"/>
            <a:ext cx="2933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Manejo constante de cultivos, lotes, sublotes, estados y fechas críticas de producción.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2624137"/>
            <a:ext cx="20002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29150" y="3033712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Plus Jakarta Sans"/>
              </a:rPr>
              <a:t>Fuentes Dispersas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9150" y="3367087"/>
            <a:ext cx="2933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Registros manuales, documentos impresos y hojas de cálculo aisladas entre sí.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2624137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91525" y="3033712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Plus Jakarta Sans"/>
              </a:rPr>
              <a:t>Volumen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367087"/>
            <a:ext cx="2933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Grandes cantidades de información generadas diariamente que requieren orden urgente.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62075"/>
            <a:ext cx="5405437" cy="21621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2" y="1362075"/>
            <a:ext cx="5405437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62375"/>
            <a:ext cx="5405437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3762375"/>
            <a:ext cx="5405437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El problema que buscamos resolver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200" y="5953125"/>
            <a:ext cx="36576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1" i="0" u="none">
                <a:solidFill>
                  <a:srgbClr val="047857"/>
                </a:solidFill>
                <a:latin typeface="Inter"/>
              </a:rPr>
              <a:t>“De esta necesidad nace AgroSoft.”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1685925"/>
            <a:ext cx="2476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C2626"/>
                </a:solidFill>
                <a:latin typeface="Inter Extra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095500"/>
            <a:ext cx="5055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4E3B"/>
                </a:solidFill>
                <a:latin typeface="Plus Jakarta Sans"/>
              </a:rPr>
              <a:t>INFORMACIÓN DISPERSA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2457450"/>
            <a:ext cx="48148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Los datos críticos se encuentran fragmentados en diferentes registros, libretas y herramientas desconectadas.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337" y="1685925"/>
            <a:ext cx="2952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C2626"/>
                </a:solidFill>
                <a:latin typeface="Inter Extra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337" y="2095500"/>
            <a:ext cx="5055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4E3B"/>
                </a:solidFill>
                <a:latin typeface="Plus Jakarta Sans"/>
              </a:rPr>
              <a:t>PROCESOS MANUALES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337" y="2457450"/>
            <a:ext cx="48148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El registro y la actualización constante de información consumen tiempo y son propensos a errores humanos.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086225"/>
            <a:ext cx="3048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C2626"/>
                </a:solidFill>
                <a:latin typeface="Inter Extra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4495800"/>
            <a:ext cx="5055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4E3B"/>
                </a:solidFill>
                <a:latin typeface="Plus Jakarta Sans"/>
              </a:rPr>
              <a:t>DIFICULTAD DE SEGUIMIENTO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4857750"/>
            <a:ext cx="48148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Sin una plataforma centralizada resulta complejo realizar seguimiento histórico de los cambios en los cultivos.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337" y="4086225"/>
            <a:ext cx="3048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C2626"/>
                </a:solidFill>
                <a:latin typeface="Inter Extra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337" y="4495800"/>
            <a:ext cx="5055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4E3B"/>
                </a:solidFill>
                <a:latin typeface="Plus Jakarta Sans"/>
              </a:rPr>
              <a:t>CONTROL DE ACCESO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337" y="4857750"/>
            <a:ext cx="48148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Incapacidad para restringir o asignar niveles de acceso adecuados según el rol de cada colaborador.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209800"/>
            <a:ext cx="5334000" cy="32099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2219325"/>
            <a:ext cx="5314950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628900"/>
            <a:ext cx="5314950" cy="2781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La solución: AGROSOFT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63254"/>
            <a:ext cx="2069901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920454"/>
            <a:ext cx="56007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64E3B"/>
                </a:solidFill>
                <a:latin typeface="Plus Jakarta Sans"/>
              </a:rPr>
              <a:t>Centraliza y gestiona la información agrícola en un único sistema.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42295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Diseñado para conectar todos los elementos clave de la operación agrícola bajo una interfaz moderna, limpia y altamente intuitiva.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51945"/>
            <a:ext cx="809625" cy="314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6375" y="4851945"/>
            <a:ext cx="628650" cy="3143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0275" y="4851945"/>
            <a:ext cx="847725" cy="3143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3250" y="4851945"/>
            <a:ext cx="819150" cy="3143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7650" y="4851945"/>
            <a:ext cx="1400175" cy="3143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86525" y="2371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57975" y="2371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29425" y="2371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96125" y="2333625"/>
            <a:ext cx="14001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Panel Principal - AgroSoft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4625" y="3362325"/>
            <a:ext cx="4857750" cy="542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4625" y="4000500"/>
            <a:ext cx="4857750" cy="542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4625" y="4638675"/>
            <a:ext cx="4857750" cy="5429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24625" y="2914650"/>
            <a:ext cx="125015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Plus Jakarta Sans"/>
              </a:rPr>
              <a:t>Gestión General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60160" y="2857500"/>
            <a:ext cx="1522214" cy="3143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06150" y="3505200"/>
            <a:ext cx="133350" cy="2571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06150" y="4143375"/>
            <a:ext cx="133350" cy="2571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06150" y="4781550"/>
            <a:ext cx="133350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48125"/>
            <a:ext cx="11049000" cy="990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90800"/>
            <a:ext cx="2397918" cy="107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193" y="2590800"/>
            <a:ext cx="2397918" cy="107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887" y="2590800"/>
            <a:ext cx="2397918" cy="1076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581" y="2590800"/>
            <a:ext cx="2397918" cy="1076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¿Cómo funciona AgroSoft?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2293" y="3014662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987" y="3014662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9681" y="3014662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1525" y="4248150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064E3B"/>
                </a:solidFill>
                <a:latin typeface="Inter"/>
              </a:rPr>
              <a:t>Flujo Técnico Integrado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581525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047857"/>
                </a:solidFill>
                <a:latin typeface="monospace"/>
              </a:rPr>
              <a:t>Usuario → Frontend → Axios → API REST → Backend → TypeORM →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578" y="2790825"/>
            <a:ext cx="209776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01. INGRESAR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067050"/>
            <a:ext cx="1997868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Autenticación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segura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s-US" sz="1050" dirty="0">
                <a:solidFill>
                  <a:srgbClr val="334155"/>
                </a:solidFill>
                <a:latin typeface="Inter"/>
              </a:rPr>
              <a:t>el sistema.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5272" y="2790825"/>
            <a:ext cx="209776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02. GESTIONAR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5218" y="3067050"/>
            <a:ext cx="199786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Creación y administración de datos.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8965" y="2790825"/>
            <a:ext cx="209776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03. PROCESAR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8912" y="3067050"/>
            <a:ext cx="199786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Solicitudes gestionadas por el backend.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59" y="2790825"/>
            <a:ext cx="209776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04. ALMACENAR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2606" y="3067050"/>
            <a:ext cx="199786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Persistencia segura en PostgreSQL.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52625"/>
            <a:ext cx="3524250" cy="1743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1952625"/>
            <a:ext cx="3524250" cy="1743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1952625"/>
            <a:ext cx="3524250" cy="1743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33825"/>
            <a:ext cx="3524250" cy="1743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3875" y="3933825"/>
            <a:ext cx="3524250" cy="1743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3933825"/>
            <a:ext cx="3524250" cy="1743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Un sistema construido por módulos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2247900"/>
            <a:ext cx="1461194" cy="3143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6775" y="2657475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Plus Jakarta Sans"/>
              </a:rPr>
              <a:t>CULTIVOS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2971800"/>
            <a:ext cx="2933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Registro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administración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integral de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cultivos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agrícolas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9150" y="2247900"/>
            <a:ext cx="1461194" cy="3143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29150" y="2657475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Plus Jakarta Sans"/>
              </a:rPr>
              <a:t>LOTES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2971800"/>
            <a:ext cx="2933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Gestión y control de terrenos agrícolas principales.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1525" y="2247900"/>
            <a:ext cx="1461194" cy="3143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91525" y="2657475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Plus Jakarta Sans"/>
              </a:rPr>
              <a:t>SUBLOTES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2971800"/>
            <a:ext cx="2933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Organización detallada de áreas específicas dentro de los lotes.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4229100"/>
            <a:ext cx="1461194" cy="3143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6775" y="4638675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Plus Jakarta Sans"/>
              </a:rPr>
              <a:t>HISTORIAL Y USUARIOS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4953000"/>
            <a:ext cx="2933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Seguimiento de cambios y control estricto de accesos.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9150" y="4229100"/>
            <a:ext cx="1384994" cy="3143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29150" y="4638675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Plus Jakarta Sans"/>
              </a:rPr>
              <a:t>TRATAMIENTOS &amp;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9150" y="4953000"/>
            <a:ext cx="2933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Control de insumos, tratamientos fitosanitarios y almacén.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1525" y="4229100"/>
            <a:ext cx="1247775" cy="3143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91525" y="4638675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Plus Jakarta Sans"/>
              </a:rPr>
              <a:t>VENTAS Y ESTADÍSTICAS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1525" y="4953000"/>
            <a:ext cx="2933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Módulos avanzados de analítica comercial y reportes.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771775"/>
            <a:ext cx="5334000" cy="2085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2781300"/>
            <a:ext cx="5314950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3219450"/>
            <a:ext cx="5314950" cy="1628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El módulo principal: Cultivos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295525"/>
            <a:ext cx="5600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64E3B"/>
                </a:solidFill>
                <a:latin typeface="Plus Jakarta Sans"/>
              </a:rPr>
              <a:t>CRUD Completo de Cultivos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752725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Permite administrar toda la información esencial de cada siembra en una interfaz limpia con paginación avanzada.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010150"/>
            <a:ext cx="5334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Inter"/>
              </a:rPr>
              <a:t>Agregar Cultivo Editar Consultar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457575"/>
            <a:ext cx="5334000" cy="2571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Nombre, tipo y descripción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810000"/>
            <a:ext cx="5334000" cy="2571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Asociación con Lote y Sublote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162425"/>
            <a:ext cx="5334000" cy="2571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Fechas de siembra y finalización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514850"/>
            <a:ext cx="5334000" cy="2571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Control de costos y estado actual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38900" y="3362325"/>
          <a:ext cx="5029198" cy="1343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1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Cultivo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Tipo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Lote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Estado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Tomate Chonto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Hortaliza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Lote Norte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59669"/>
                          </a:solidFill>
                          <a:latin typeface="Inter SemiBold"/>
                        </a:rPr>
                        <a:t>Activo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Café Arámbulo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Perenne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Lote Alto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59669"/>
                          </a:solidFill>
                          <a:latin typeface="Inter SemiBold"/>
                        </a:rPr>
                        <a:t>Activo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00437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52862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05287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57712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57450"/>
            <a:ext cx="5381625" cy="2190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457450"/>
            <a:ext cx="5381625" cy="2190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¿Por qué AgroSoft?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7437" y="4886325"/>
            <a:ext cx="7477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059669"/>
                </a:solidFill>
                <a:latin typeface="Inter"/>
              </a:rPr>
              <a:t>“Transformamos información agrícola en una herramienta para gestionar mejor.”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752725"/>
            <a:ext cx="503062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E123C"/>
                </a:solidFill>
                <a:latin typeface="Plus Jakarta Sans"/>
              </a:rPr>
              <a:t>SIN UNA PLATAFORMA CENTRALIZADA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752725"/>
            <a:ext cx="503062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47857"/>
                </a:solidFill>
                <a:latin typeface="Plus Jakarta Sans"/>
              </a:rPr>
              <a:t>CON AGROSOFT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9562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Información dispersa en múltiples registros.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42900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Procesos manuales y repetitivos.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76237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Dificultad para consultar datos históricos.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09575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Seguimiento fragmentado y limitado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09562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Información centralizada en la web.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342900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Gestión digital ágil y organizada.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376237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Consulta rápida y trazabilidad garantizada.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409575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Control de accesos mediante roles seguros.</a:t>
            </a:r>
          </a:p>
        </p:txBody>
      </p:sp>
      <p:pic>
        <p:nvPicPr>
          <p:cNvPr id="16" name="Picture 1" descr="image.png">
            <a:extLst>
              <a:ext uri="{FF2B5EF4-FFF2-40B4-BE49-F238E27FC236}">
                <a16:creationId xmlns:a16="http://schemas.microsoft.com/office/drawing/2014/main" id="{5DB9BA74-4094-46D3-B9F6-0D72B1FC5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" descr="image.png">
            <a:extLst>
              <a:ext uri="{FF2B5EF4-FFF2-40B4-BE49-F238E27FC236}">
                <a16:creationId xmlns:a16="http://schemas.microsoft.com/office/drawing/2014/main" id="{D33C2406-6CA5-4EFF-AC61-484BE2FE1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108" y="-109538"/>
            <a:ext cx="12192000" cy="6858000"/>
          </a:xfrm>
          <a:prstGeom prst="rect">
            <a:avLst/>
          </a:prstGeom>
        </p:spPr>
      </p:pic>
      <p:pic>
        <p:nvPicPr>
          <p:cNvPr id="18" name="Picture 2" descr="image.png">
            <a:extLst>
              <a:ext uri="{FF2B5EF4-FFF2-40B4-BE49-F238E27FC236}">
                <a16:creationId xmlns:a16="http://schemas.microsoft.com/office/drawing/2014/main" id="{CFD50E19-4C1B-44CA-937A-FC7102AB9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57800"/>
            <a:ext cx="11049000" cy="762000"/>
          </a:xfrm>
          <a:prstGeom prst="rect">
            <a:avLst/>
          </a:prstGeom>
        </p:spPr>
      </p:pic>
      <p:pic>
        <p:nvPicPr>
          <p:cNvPr id="19" name="Picture 3" descr="image.png">
            <a:extLst>
              <a:ext uri="{FF2B5EF4-FFF2-40B4-BE49-F238E27FC236}">
                <a16:creationId xmlns:a16="http://schemas.microsoft.com/office/drawing/2014/main" id="{A63D93E4-EBB8-4371-8571-0F7C87F8E4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62225"/>
            <a:ext cx="5334000" cy="2409825"/>
          </a:xfrm>
          <a:prstGeom prst="rect">
            <a:avLst/>
          </a:prstGeom>
        </p:spPr>
      </p:pic>
      <p:pic>
        <p:nvPicPr>
          <p:cNvPr id="20" name="Picture 4" descr="image.png">
            <a:extLst>
              <a:ext uri="{FF2B5EF4-FFF2-40B4-BE49-F238E27FC236}">
                <a16:creationId xmlns:a16="http://schemas.microsoft.com/office/drawing/2014/main" id="{9F90BB99-D862-46AA-AD90-0813055B1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1928812"/>
            <a:ext cx="5334000" cy="2714625"/>
          </a:xfrm>
          <a:prstGeom prst="rect">
            <a:avLst/>
          </a:prstGeom>
        </p:spPr>
      </p:pic>
      <p:pic>
        <p:nvPicPr>
          <p:cNvPr id="21" name="Picture 5" descr="image.png">
            <a:extLst>
              <a:ext uri="{FF2B5EF4-FFF2-40B4-BE49-F238E27FC236}">
                <a16:creationId xmlns:a16="http://schemas.microsoft.com/office/drawing/2014/main" id="{54527E12-0FCB-414C-BAEB-ABECC28E18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2224087"/>
            <a:ext cx="1905000" cy="447675"/>
          </a:xfrm>
          <a:prstGeom prst="rect">
            <a:avLst/>
          </a:prstGeom>
        </p:spPr>
      </p:pic>
      <p:pic>
        <p:nvPicPr>
          <p:cNvPr id="22" name="Picture 6" descr="image.png">
            <a:extLst>
              <a:ext uri="{FF2B5EF4-FFF2-40B4-BE49-F238E27FC236}">
                <a16:creationId xmlns:a16="http://schemas.microsoft.com/office/drawing/2014/main" id="{9506C164-6866-4361-9989-FBCBD98596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3062287"/>
            <a:ext cx="1905000" cy="447675"/>
          </a:xfrm>
          <a:prstGeom prst="rect">
            <a:avLst/>
          </a:prstGeom>
        </p:spPr>
      </p:pic>
      <p:pic>
        <p:nvPicPr>
          <p:cNvPr id="23" name="Picture 7" descr="image.png">
            <a:extLst>
              <a:ext uri="{FF2B5EF4-FFF2-40B4-BE49-F238E27FC236}">
                <a16:creationId xmlns:a16="http://schemas.microsoft.com/office/drawing/2014/main" id="{F53D026C-98B5-459D-9FC4-3A39125F1F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3900487"/>
            <a:ext cx="1905000" cy="447675"/>
          </a:xfrm>
          <a:prstGeom prst="rect">
            <a:avLst/>
          </a:prstGeom>
        </p:spPr>
      </p:pic>
      <p:sp>
        <p:nvSpPr>
          <p:cNvPr id="24" name="TextBox 8">
            <a:extLst>
              <a:ext uri="{FF2B5EF4-FFF2-40B4-BE49-F238E27FC236}">
                <a16:creationId xmlns:a16="http://schemas.microsoft.com/office/drawing/2014/main" id="{E8A605D3-2F27-44FE-9AD1-384986CC7373}"/>
              </a:ext>
            </a:extLst>
          </p:cNvPr>
          <p:cNvSpPr txBox="1"/>
          <p:nvPr/>
        </p:nvSpPr>
        <p:spPr>
          <a:xfrm>
            <a:off x="914400" y="5495925"/>
            <a:ext cx="104203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1" u="none">
                <a:solidFill>
                  <a:srgbClr val="064E3B"/>
                </a:solidFill>
                <a:latin typeface="Plus Jakarta Sans Medium"/>
              </a:rPr>
              <a:t>“No basta con construir frontend y backend; ambos deben hablar el mismo idioma.”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4D7E923D-6172-497F-8942-7CE4F416DB2D}"/>
              </a:ext>
            </a:extLst>
          </p:cNvPr>
          <p:cNvSpPr txBox="1"/>
          <p:nvPr/>
        </p:nvSpPr>
        <p:spPr>
          <a:xfrm>
            <a:off x="571500" y="1600200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Uno de los retos principales fue lograr que la interfaz en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React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pudiera comunicarse correctamente con el backend en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NestJS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mediante API REST y Axios.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B2E61009-9F44-4A33-A2C6-FE30DA86F963}"/>
              </a:ext>
            </a:extLst>
          </p:cNvPr>
          <p:cNvSpPr txBox="1"/>
          <p:nvPr/>
        </p:nvSpPr>
        <p:spPr>
          <a:xfrm>
            <a:off x="866775" y="2857500"/>
            <a:ext cx="4980622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Outfit"/>
              </a:rPr>
              <a:t>Problemas comunes: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6DE2F6DD-1C45-4337-AD87-5238A564DF42}"/>
              </a:ext>
            </a:extLst>
          </p:cNvPr>
          <p:cNvSpPr txBox="1"/>
          <p:nvPr/>
        </p:nvSpPr>
        <p:spPr>
          <a:xfrm>
            <a:off x="8691562" y="2767012"/>
            <a:ext cx="523875" cy="2000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Axios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55CCB9F1-1377-4461-AA01-7DF3EBE7280A}"/>
              </a:ext>
            </a:extLst>
          </p:cNvPr>
          <p:cNvSpPr txBox="1"/>
          <p:nvPr/>
        </p:nvSpPr>
        <p:spPr>
          <a:xfrm>
            <a:off x="8591550" y="3605212"/>
            <a:ext cx="723900" cy="2000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Servicio</a:t>
            </a:r>
          </a:p>
        </p:txBody>
      </p:sp>
      <p:pic>
        <p:nvPicPr>
          <p:cNvPr id="29" name="Picture 13" descr="image.png">
            <a:extLst>
              <a:ext uri="{FF2B5EF4-FFF2-40B4-BE49-F238E27FC236}">
                <a16:creationId xmlns:a16="http://schemas.microsoft.com/office/drawing/2014/main" id="{B71044A0-2D97-45F5-91F7-1A969B7A03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2886075"/>
            <a:ext cx="171450" cy="171450"/>
          </a:xfrm>
          <a:prstGeom prst="rect">
            <a:avLst/>
          </a:prstGeom>
        </p:spPr>
      </p:pic>
      <p:sp>
        <p:nvSpPr>
          <p:cNvPr id="30" name="TextBox 14">
            <a:extLst>
              <a:ext uri="{FF2B5EF4-FFF2-40B4-BE49-F238E27FC236}">
                <a16:creationId xmlns:a16="http://schemas.microsoft.com/office/drawing/2014/main" id="{210380CD-3BC9-4FF6-BC2D-07A7C2D743C6}"/>
              </a:ext>
            </a:extLst>
          </p:cNvPr>
          <p:cNvSpPr txBox="1"/>
          <p:nvPr/>
        </p:nvSpPr>
        <p:spPr>
          <a:xfrm>
            <a:off x="962025" y="31908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864894FE-0AA2-4269-A619-5341580E3B3F}"/>
              </a:ext>
            </a:extLst>
          </p:cNvPr>
          <p:cNvSpPr txBox="1"/>
          <p:nvPr/>
        </p:nvSpPr>
        <p:spPr>
          <a:xfrm>
            <a:off x="1057275" y="3190875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Rutas incorrectas y puertos diferentes.</a:t>
            </a: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F020D0C1-54DE-4022-A7C8-76B2AEECC96C}"/>
              </a:ext>
            </a:extLst>
          </p:cNvPr>
          <p:cNvSpPr txBox="1"/>
          <p:nvPr/>
        </p:nvSpPr>
        <p:spPr>
          <a:xfrm>
            <a:off x="962025" y="35623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5F26AC1C-BDA7-4CC8-BDB5-9ADF15FD540D}"/>
              </a:ext>
            </a:extLst>
          </p:cNvPr>
          <p:cNvSpPr txBox="1"/>
          <p:nvPr/>
        </p:nvSpPr>
        <p:spPr>
          <a:xfrm>
            <a:off x="1057275" y="3562350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Errores CORS entre dominios.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967F4340-2C66-4DDE-933D-2539C7AFB6D0}"/>
              </a:ext>
            </a:extLst>
          </p:cNvPr>
          <p:cNvSpPr txBox="1"/>
          <p:nvPr/>
        </p:nvSpPr>
        <p:spPr>
          <a:xfrm>
            <a:off x="962025" y="39338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19">
            <a:extLst>
              <a:ext uri="{FF2B5EF4-FFF2-40B4-BE49-F238E27FC236}">
                <a16:creationId xmlns:a16="http://schemas.microsoft.com/office/drawing/2014/main" id="{A16D0259-2E92-40E7-BA5D-9A6D4F7134C9}"/>
              </a:ext>
            </a:extLst>
          </p:cNvPr>
          <p:cNvSpPr txBox="1"/>
          <p:nvPr/>
        </p:nvSpPr>
        <p:spPr>
          <a:xfrm>
            <a:off x="1057275" y="3933825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Datos enviados con estructura incorrecta.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5A416084-72E9-4D01-A92C-9B0DA9D6D145}"/>
              </a:ext>
            </a:extLst>
          </p:cNvPr>
          <p:cNvSpPr txBox="1"/>
          <p:nvPr/>
        </p:nvSpPr>
        <p:spPr>
          <a:xfrm>
            <a:off x="962025" y="43053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66D29AF2-2F07-49A0-9A31-2DA696CC8923}"/>
              </a:ext>
            </a:extLst>
          </p:cNvPr>
          <p:cNvSpPr txBox="1"/>
          <p:nvPr/>
        </p:nvSpPr>
        <p:spPr>
          <a:xfrm>
            <a:off x="1057275" y="4305300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Respuestas inesperadas por el frontend.</a:t>
            </a:r>
          </a:p>
        </p:txBody>
      </p:sp>
      <p:pic>
        <p:nvPicPr>
          <p:cNvPr id="38" name="Picture 22" descr="image.png">
            <a:extLst>
              <a:ext uri="{FF2B5EF4-FFF2-40B4-BE49-F238E27FC236}">
                <a16:creationId xmlns:a16="http://schemas.microsoft.com/office/drawing/2014/main" id="{F5065EE2-9FC0-45B9-BEA8-D4F2A819E5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1562" y="2795587"/>
            <a:ext cx="114300" cy="152400"/>
          </a:xfrm>
          <a:prstGeom prst="rect">
            <a:avLst/>
          </a:prstGeom>
        </p:spPr>
      </p:pic>
      <p:pic>
        <p:nvPicPr>
          <p:cNvPr id="39" name="Picture 23" descr="image.png">
            <a:extLst>
              <a:ext uri="{FF2B5EF4-FFF2-40B4-BE49-F238E27FC236}">
                <a16:creationId xmlns:a16="http://schemas.microsoft.com/office/drawing/2014/main" id="{6FCDE2B3-D4C7-45E9-A5BD-A375FAB3E9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1550" y="3633787"/>
            <a:ext cx="114300" cy="152400"/>
          </a:xfrm>
          <a:prstGeom prst="rect">
            <a:avLst/>
          </a:prstGeom>
        </p:spPr>
      </p:pic>
      <p:sp>
        <p:nvSpPr>
          <p:cNvPr id="40" name="TextBox 24">
            <a:extLst>
              <a:ext uri="{FF2B5EF4-FFF2-40B4-BE49-F238E27FC236}">
                <a16:creationId xmlns:a16="http://schemas.microsoft.com/office/drawing/2014/main" id="{B14625D1-E667-4C1C-8367-CBD025C8EA78}"/>
              </a:ext>
            </a:extLst>
          </p:cNvPr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Outfit"/>
              </a:rPr>
              <a:t>Reto 1: Conexión entre Frontend y Backend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57450"/>
            <a:ext cx="5381625" cy="2190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457450"/>
            <a:ext cx="5381625" cy="2190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¿Por qué AgroSoft?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7437" y="4886325"/>
            <a:ext cx="7477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059669"/>
                </a:solidFill>
                <a:latin typeface="Inter"/>
              </a:rPr>
              <a:t>“Transformamos información agrícola en una herramienta para gestionar mejor.”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752725"/>
            <a:ext cx="503062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E123C"/>
                </a:solidFill>
                <a:latin typeface="Plus Jakarta Sans"/>
              </a:rPr>
              <a:t>SIN UNA PLATAFORMA CENTRALIZADA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752725"/>
            <a:ext cx="503062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47857"/>
                </a:solidFill>
                <a:latin typeface="Plus Jakarta Sans"/>
              </a:rPr>
              <a:t>CON AGROSOFT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9562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Información dispersa en múltiples registros.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42900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Procesos manuales y repetitivos.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76237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Dificultad para consultar datos históricos.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09575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Seguimiento fragmentado y limitado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09562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Información centralizada en la web.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342900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Gestión digital ágil y organizada.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376237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Consulta rápida y trazabilidad garantizada.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409575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Control de accesos mediante roles seguros.</a:t>
            </a:r>
          </a:p>
        </p:txBody>
      </p:sp>
      <p:pic>
        <p:nvPicPr>
          <p:cNvPr id="16" name="Picture 1" descr="image.png">
            <a:extLst>
              <a:ext uri="{FF2B5EF4-FFF2-40B4-BE49-F238E27FC236}">
                <a16:creationId xmlns:a16="http://schemas.microsoft.com/office/drawing/2014/main" id="{5DB9BA74-4094-46D3-B9F6-0D72B1FC5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" descr="image.png">
            <a:extLst>
              <a:ext uri="{FF2B5EF4-FFF2-40B4-BE49-F238E27FC236}">
                <a16:creationId xmlns:a16="http://schemas.microsoft.com/office/drawing/2014/main" id="{D33C2406-6CA5-4EFF-AC61-484BE2FE1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-109538"/>
            <a:ext cx="12192000" cy="6858000"/>
          </a:xfrm>
          <a:prstGeom prst="rect">
            <a:avLst/>
          </a:prstGeom>
        </p:spPr>
      </p:pic>
      <p:pic>
        <p:nvPicPr>
          <p:cNvPr id="18" name="Picture 2" descr="image.png">
            <a:extLst>
              <a:ext uri="{FF2B5EF4-FFF2-40B4-BE49-F238E27FC236}">
                <a16:creationId xmlns:a16="http://schemas.microsoft.com/office/drawing/2014/main" id="{CFD50E19-4C1B-44CA-937A-FC7102AB9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57800"/>
            <a:ext cx="11049000" cy="762000"/>
          </a:xfrm>
          <a:prstGeom prst="rect">
            <a:avLst/>
          </a:prstGeom>
        </p:spPr>
      </p:pic>
      <p:pic>
        <p:nvPicPr>
          <p:cNvPr id="19" name="Picture 3" descr="image.png">
            <a:extLst>
              <a:ext uri="{FF2B5EF4-FFF2-40B4-BE49-F238E27FC236}">
                <a16:creationId xmlns:a16="http://schemas.microsoft.com/office/drawing/2014/main" id="{A63D93E4-EBB8-4371-8571-0F7C87F8E4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62225"/>
            <a:ext cx="5334000" cy="2409825"/>
          </a:xfrm>
          <a:prstGeom prst="rect">
            <a:avLst/>
          </a:prstGeom>
        </p:spPr>
      </p:pic>
      <p:pic>
        <p:nvPicPr>
          <p:cNvPr id="20" name="Picture 4" descr="image.png">
            <a:extLst>
              <a:ext uri="{FF2B5EF4-FFF2-40B4-BE49-F238E27FC236}">
                <a16:creationId xmlns:a16="http://schemas.microsoft.com/office/drawing/2014/main" id="{9F90BB99-D862-46AA-AD90-0813055B1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1928812"/>
            <a:ext cx="5334000" cy="2714625"/>
          </a:xfrm>
          <a:prstGeom prst="rect">
            <a:avLst/>
          </a:prstGeom>
        </p:spPr>
      </p:pic>
      <p:pic>
        <p:nvPicPr>
          <p:cNvPr id="21" name="Picture 5" descr="image.png">
            <a:extLst>
              <a:ext uri="{FF2B5EF4-FFF2-40B4-BE49-F238E27FC236}">
                <a16:creationId xmlns:a16="http://schemas.microsoft.com/office/drawing/2014/main" id="{54527E12-0FCB-414C-BAEB-ABECC28E18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2224087"/>
            <a:ext cx="1905000" cy="447675"/>
          </a:xfrm>
          <a:prstGeom prst="rect">
            <a:avLst/>
          </a:prstGeom>
        </p:spPr>
      </p:pic>
      <p:pic>
        <p:nvPicPr>
          <p:cNvPr id="22" name="Picture 6" descr="image.png">
            <a:extLst>
              <a:ext uri="{FF2B5EF4-FFF2-40B4-BE49-F238E27FC236}">
                <a16:creationId xmlns:a16="http://schemas.microsoft.com/office/drawing/2014/main" id="{9506C164-6866-4361-9989-FBCBD98596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3062287"/>
            <a:ext cx="1905000" cy="447675"/>
          </a:xfrm>
          <a:prstGeom prst="rect">
            <a:avLst/>
          </a:prstGeom>
        </p:spPr>
      </p:pic>
      <p:pic>
        <p:nvPicPr>
          <p:cNvPr id="23" name="Picture 7" descr="image.png">
            <a:extLst>
              <a:ext uri="{FF2B5EF4-FFF2-40B4-BE49-F238E27FC236}">
                <a16:creationId xmlns:a16="http://schemas.microsoft.com/office/drawing/2014/main" id="{F53D026C-98B5-459D-9FC4-3A39125F1F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3900487"/>
            <a:ext cx="1905000" cy="447675"/>
          </a:xfrm>
          <a:prstGeom prst="rect">
            <a:avLst/>
          </a:prstGeom>
        </p:spPr>
      </p:pic>
      <p:sp>
        <p:nvSpPr>
          <p:cNvPr id="24" name="TextBox 8">
            <a:extLst>
              <a:ext uri="{FF2B5EF4-FFF2-40B4-BE49-F238E27FC236}">
                <a16:creationId xmlns:a16="http://schemas.microsoft.com/office/drawing/2014/main" id="{E8A605D3-2F27-44FE-9AD1-384986CC7373}"/>
              </a:ext>
            </a:extLst>
          </p:cNvPr>
          <p:cNvSpPr txBox="1"/>
          <p:nvPr/>
        </p:nvSpPr>
        <p:spPr>
          <a:xfrm>
            <a:off x="914400" y="5495925"/>
            <a:ext cx="104203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1" u="none">
                <a:solidFill>
                  <a:srgbClr val="064E3B"/>
                </a:solidFill>
                <a:latin typeface="Plus Jakarta Sans Medium"/>
              </a:rPr>
              <a:t>“No basta con construir frontend y backend; ambos deben hablar el mismo idioma.”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4D7E923D-6172-497F-8942-7CE4F416DB2D}"/>
              </a:ext>
            </a:extLst>
          </p:cNvPr>
          <p:cNvSpPr txBox="1"/>
          <p:nvPr/>
        </p:nvSpPr>
        <p:spPr>
          <a:xfrm>
            <a:off x="571500" y="1600200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Uno de los retos principales fue lograr que la interfaz en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React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pudiera comunicarse correctamente con el backend en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NestJS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mediante API REST y Axios.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B2E61009-9F44-4A33-A2C6-FE30DA86F963}"/>
              </a:ext>
            </a:extLst>
          </p:cNvPr>
          <p:cNvSpPr txBox="1"/>
          <p:nvPr/>
        </p:nvSpPr>
        <p:spPr>
          <a:xfrm>
            <a:off x="866775" y="2857500"/>
            <a:ext cx="4980622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Outfit"/>
              </a:rPr>
              <a:t>Problemas comunes: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6DE2F6DD-1C45-4337-AD87-5238A564DF42}"/>
              </a:ext>
            </a:extLst>
          </p:cNvPr>
          <p:cNvSpPr txBox="1"/>
          <p:nvPr/>
        </p:nvSpPr>
        <p:spPr>
          <a:xfrm>
            <a:off x="8691562" y="2767012"/>
            <a:ext cx="523875" cy="2000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Axios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55CCB9F1-1377-4461-AA01-7DF3EBE7280A}"/>
              </a:ext>
            </a:extLst>
          </p:cNvPr>
          <p:cNvSpPr txBox="1"/>
          <p:nvPr/>
        </p:nvSpPr>
        <p:spPr>
          <a:xfrm>
            <a:off x="8591550" y="3605212"/>
            <a:ext cx="723900" cy="2000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Servicio</a:t>
            </a:r>
          </a:p>
        </p:txBody>
      </p:sp>
      <p:pic>
        <p:nvPicPr>
          <p:cNvPr id="29" name="Picture 13" descr="image.png">
            <a:extLst>
              <a:ext uri="{FF2B5EF4-FFF2-40B4-BE49-F238E27FC236}">
                <a16:creationId xmlns:a16="http://schemas.microsoft.com/office/drawing/2014/main" id="{B71044A0-2D97-45F5-91F7-1A969B7A03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2886075"/>
            <a:ext cx="171450" cy="171450"/>
          </a:xfrm>
          <a:prstGeom prst="rect">
            <a:avLst/>
          </a:prstGeom>
        </p:spPr>
      </p:pic>
      <p:sp>
        <p:nvSpPr>
          <p:cNvPr id="30" name="TextBox 14">
            <a:extLst>
              <a:ext uri="{FF2B5EF4-FFF2-40B4-BE49-F238E27FC236}">
                <a16:creationId xmlns:a16="http://schemas.microsoft.com/office/drawing/2014/main" id="{210380CD-3BC9-4FF6-BC2D-07A7C2D743C6}"/>
              </a:ext>
            </a:extLst>
          </p:cNvPr>
          <p:cNvSpPr txBox="1"/>
          <p:nvPr/>
        </p:nvSpPr>
        <p:spPr>
          <a:xfrm>
            <a:off x="962025" y="31908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864894FE-0AA2-4269-A619-5341580E3B3F}"/>
              </a:ext>
            </a:extLst>
          </p:cNvPr>
          <p:cNvSpPr txBox="1"/>
          <p:nvPr/>
        </p:nvSpPr>
        <p:spPr>
          <a:xfrm>
            <a:off x="1057275" y="3190875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Rutas incorrectas y puertos diferentes.</a:t>
            </a: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F020D0C1-54DE-4022-A7C8-76B2AEECC96C}"/>
              </a:ext>
            </a:extLst>
          </p:cNvPr>
          <p:cNvSpPr txBox="1"/>
          <p:nvPr/>
        </p:nvSpPr>
        <p:spPr>
          <a:xfrm>
            <a:off x="962025" y="35623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5F26AC1C-BDA7-4CC8-BDB5-9ADF15FD540D}"/>
              </a:ext>
            </a:extLst>
          </p:cNvPr>
          <p:cNvSpPr txBox="1"/>
          <p:nvPr/>
        </p:nvSpPr>
        <p:spPr>
          <a:xfrm>
            <a:off x="1057275" y="3562350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Errores CORS entre dominios.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967F4340-2C66-4DDE-933D-2539C7AFB6D0}"/>
              </a:ext>
            </a:extLst>
          </p:cNvPr>
          <p:cNvSpPr txBox="1"/>
          <p:nvPr/>
        </p:nvSpPr>
        <p:spPr>
          <a:xfrm>
            <a:off x="962025" y="39338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19">
            <a:extLst>
              <a:ext uri="{FF2B5EF4-FFF2-40B4-BE49-F238E27FC236}">
                <a16:creationId xmlns:a16="http://schemas.microsoft.com/office/drawing/2014/main" id="{A16D0259-2E92-40E7-BA5D-9A6D4F7134C9}"/>
              </a:ext>
            </a:extLst>
          </p:cNvPr>
          <p:cNvSpPr txBox="1"/>
          <p:nvPr/>
        </p:nvSpPr>
        <p:spPr>
          <a:xfrm>
            <a:off x="1057275" y="3933825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Datos enviados con estructura incorrecta.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5A416084-72E9-4D01-A92C-9B0DA9D6D145}"/>
              </a:ext>
            </a:extLst>
          </p:cNvPr>
          <p:cNvSpPr txBox="1"/>
          <p:nvPr/>
        </p:nvSpPr>
        <p:spPr>
          <a:xfrm>
            <a:off x="962025" y="43053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66D29AF2-2F07-49A0-9A31-2DA696CC8923}"/>
              </a:ext>
            </a:extLst>
          </p:cNvPr>
          <p:cNvSpPr txBox="1"/>
          <p:nvPr/>
        </p:nvSpPr>
        <p:spPr>
          <a:xfrm>
            <a:off x="1057275" y="4305300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Respuestas inesperadas por el frontend.</a:t>
            </a:r>
          </a:p>
        </p:txBody>
      </p:sp>
      <p:pic>
        <p:nvPicPr>
          <p:cNvPr id="38" name="Picture 22" descr="image.png">
            <a:extLst>
              <a:ext uri="{FF2B5EF4-FFF2-40B4-BE49-F238E27FC236}">
                <a16:creationId xmlns:a16="http://schemas.microsoft.com/office/drawing/2014/main" id="{F5065EE2-9FC0-45B9-BEA8-D4F2A819E5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1562" y="2795587"/>
            <a:ext cx="114300" cy="152400"/>
          </a:xfrm>
          <a:prstGeom prst="rect">
            <a:avLst/>
          </a:prstGeom>
        </p:spPr>
      </p:pic>
      <p:pic>
        <p:nvPicPr>
          <p:cNvPr id="39" name="Picture 23" descr="image.png">
            <a:extLst>
              <a:ext uri="{FF2B5EF4-FFF2-40B4-BE49-F238E27FC236}">
                <a16:creationId xmlns:a16="http://schemas.microsoft.com/office/drawing/2014/main" id="{6FCDE2B3-D4C7-45E9-A5BD-A375FAB3E9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1550" y="3633787"/>
            <a:ext cx="114300" cy="152400"/>
          </a:xfrm>
          <a:prstGeom prst="rect">
            <a:avLst/>
          </a:prstGeom>
        </p:spPr>
      </p:pic>
      <p:sp>
        <p:nvSpPr>
          <p:cNvPr id="40" name="TextBox 24">
            <a:extLst>
              <a:ext uri="{FF2B5EF4-FFF2-40B4-BE49-F238E27FC236}">
                <a16:creationId xmlns:a16="http://schemas.microsoft.com/office/drawing/2014/main" id="{B14625D1-E667-4C1C-8367-CBD025C8EA78}"/>
              </a:ext>
            </a:extLst>
          </p:cNvPr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Outfit"/>
              </a:rPr>
              <a:t>Reto 1: Conexión entre Frontend y Backend</a:t>
            </a:r>
          </a:p>
        </p:txBody>
      </p:sp>
      <p:pic>
        <p:nvPicPr>
          <p:cNvPr id="41" name="Picture 1" descr="image.png">
            <a:extLst>
              <a:ext uri="{FF2B5EF4-FFF2-40B4-BE49-F238E27FC236}">
                <a16:creationId xmlns:a16="http://schemas.microsoft.com/office/drawing/2014/main" id="{48E50F9E-FD50-4BB2-8719-E6F5D0FB1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57150"/>
            <a:ext cx="12192000" cy="6858000"/>
          </a:xfrm>
          <a:prstGeom prst="rect">
            <a:avLst/>
          </a:prstGeom>
        </p:spPr>
      </p:pic>
      <p:pic>
        <p:nvPicPr>
          <p:cNvPr id="42" name="Picture 2" descr="image.png">
            <a:extLst>
              <a:ext uri="{FF2B5EF4-FFF2-40B4-BE49-F238E27FC236}">
                <a16:creationId xmlns:a16="http://schemas.microsoft.com/office/drawing/2014/main" id="{78687AB8-CC62-423E-A8DA-6A80714196C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3028950"/>
            <a:ext cx="5334000" cy="2524125"/>
          </a:xfrm>
          <a:prstGeom prst="rect">
            <a:avLst/>
          </a:prstGeom>
        </p:spPr>
      </p:pic>
      <p:pic>
        <p:nvPicPr>
          <p:cNvPr id="43" name="Picture 3" descr="image.png">
            <a:extLst>
              <a:ext uri="{FF2B5EF4-FFF2-40B4-BE49-F238E27FC236}">
                <a16:creationId xmlns:a16="http://schemas.microsoft.com/office/drawing/2014/main" id="{97371905-0ED0-4DE7-A522-178AB6E973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628900"/>
            <a:ext cx="5334000" cy="2667000"/>
          </a:xfrm>
          <a:prstGeom prst="rect">
            <a:avLst/>
          </a:prstGeom>
        </p:spPr>
      </p:pic>
      <p:pic>
        <p:nvPicPr>
          <p:cNvPr id="44" name="Picture 4" descr="image.png">
            <a:extLst>
              <a:ext uri="{FF2B5EF4-FFF2-40B4-BE49-F238E27FC236}">
                <a16:creationId xmlns:a16="http://schemas.microsoft.com/office/drawing/2014/main" id="{27D8DDA1-03FA-4127-8E25-E8E297AAFF8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9175" y="4914900"/>
            <a:ext cx="4743450" cy="342900"/>
          </a:xfrm>
          <a:prstGeom prst="rect">
            <a:avLst/>
          </a:prstGeom>
        </p:spPr>
      </p:pic>
      <p:pic>
        <p:nvPicPr>
          <p:cNvPr id="45" name="Picture 5" descr="image.png">
            <a:extLst>
              <a:ext uri="{FF2B5EF4-FFF2-40B4-BE49-F238E27FC236}">
                <a16:creationId xmlns:a16="http://schemas.microsoft.com/office/drawing/2014/main" id="{965B3581-B49B-4756-9D53-68DBA18DDBE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77187" y="2924175"/>
            <a:ext cx="2257425" cy="447675"/>
          </a:xfrm>
          <a:prstGeom prst="rect">
            <a:avLst/>
          </a:prstGeom>
        </p:spPr>
      </p:pic>
      <p:pic>
        <p:nvPicPr>
          <p:cNvPr id="46" name="Picture 6" descr="image.png">
            <a:extLst>
              <a:ext uri="{FF2B5EF4-FFF2-40B4-BE49-F238E27FC236}">
                <a16:creationId xmlns:a16="http://schemas.microsoft.com/office/drawing/2014/main" id="{6235C152-4234-49DF-9E8D-1586D66F81E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6200" y="3467100"/>
            <a:ext cx="2819400" cy="447675"/>
          </a:xfrm>
          <a:prstGeom prst="rect">
            <a:avLst/>
          </a:prstGeom>
        </p:spPr>
      </p:pic>
      <p:pic>
        <p:nvPicPr>
          <p:cNvPr id="47" name="Picture 7" descr="image.png">
            <a:extLst>
              <a:ext uri="{FF2B5EF4-FFF2-40B4-BE49-F238E27FC236}">
                <a16:creationId xmlns:a16="http://schemas.microsoft.com/office/drawing/2014/main" id="{37276A88-C612-4B1F-A306-825A491ADD1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4010025"/>
            <a:ext cx="3124200" cy="447675"/>
          </a:xfrm>
          <a:prstGeom prst="rect">
            <a:avLst/>
          </a:prstGeom>
        </p:spPr>
      </p:pic>
      <p:pic>
        <p:nvPicPr>
          <p:cNvPr id="48" name="Picture 8" descr="image.png">
            <a:extLst>
              <a:ext uri="{FF2B5EF4-FFF2-40B4-BE49-F238E27FC236}">
                <a16:creationId xmlns:a16="http://schemas.microsoft.com/office/drawing/2014/main" id="{1FB44505-6DBF-4842-AC3F-669328C60FB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86637" y="4552950"/>
            <a:ext cx="3438525" cy="447675"/>
          </a:xfrm>
          <a:prstGeom prst="rect">
            <a:avLst/>
          </a:prstGeom>
        </p:spPr>
      </p:pic>
      <p:sp>
        <p:nvSpPr>
          <p:cNvPr id="49" name="TextBox 9">
            <a:extLst>
              <a:ext uri="{FF2B5EF4-FFF2-40B4-BE49-F238E27FC236}">
                <a16:creationId xmlns:a16="http://schemas.microsoft.com/office/drawing/2014/main" id="{1AF61E79-037B-410F-B0E3-6921D4F3D090}"/>
              </a:ext>
            </a:extLst>
          </p:cNvPr>
          <p:cNvSpPr txBox="1"/>
          <p:nvPr/>
        </p:nvSpPr>
        <p:spPr>
          <a:xfrm>
            <a:off x="723900" y="2371725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Mantener la sesión activa del usuario conectando el backend con la interfaz de usuario de manera segura y fluida.</a:t>
            </a:r>
          </a:p>
        </p:txBody>
      </p:sp>
      <p:sp>
        <p:nvSpPr>
          <p:cNvPr id="50" name="TextBox 10">
            <a:extLst>
              <a:ext uri="{FF2B5EF4-FFF2-40B4-BE49-F238E27FC236}">
                <a16:creationId xmlns:a16="http://schemas.microsoft.com/office/drawing/2014/main" id="{FCEDA1F7-F160-4250-9971-B8AEC70CEA1E}"/>
              </a:ext>
            </a:extLst>
          </p:cNvPr>
          <p:cNvSpPr txBox="1"/>
          <p:nvPr/>
        </p:nvSpPr>
        <p:spPr>
          <a:xfrm>
            <a:off x="1019175" y="3324225"/>
            <a:ext cx="4980622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Outfit"/>
              </a:rPr>
              <a:t>Mecanismo implementado:</a:t>
            </a:r>
          </a:p>
        </p:txBody>
      </p:sp>
      <p:pic>
        <p:nvPicPr>
          <p:cNvPr id="51" name="Picture 11" descr="image.png">
            <a:extLst>
              <a:ext uri="{FF2B5EF4-FFF2-40B4-BE49-F238E27FC236}">
                <a16:creationId xmlns:a16="http://schemas.microsoft.com/office/drawing/2014/main" id="{294F4AE4-ADDB-4966-8DCE-6C16DF8F252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9175" y="3352800"/>
            <a:ext cx="171450" cy="171450"/>
          </a:xfrm>
          <a:prstGeom prst="rect">
            <a:avLst/>
          </a:prstGeom>
        </p:spPr>
      </p:pic>
      <p:sp>
        <p:nvSpPr>
          <p:cNvPr id="52" name="TextBox 12">
            <a:extLst>
              <a:ext uri="{FF2B5EF4-FFF2-40B4-BE49-F238E27FC236}">
                <a16:creationId xmlns:a16="http://schemas.microsoft.com/office/drawing/2014/main" id="{BD46426A-7B46-40E1-B023-4F0C1976C4DD}"/>
              </a:ext>
            </a:extLst>
          </p:cNvPr>
          <p:cNvSpPr txBox="1"/>
          <p:nvPr/>
        </p:nvSpPr>
        <p:spPr>
          <a:xfrm>
            <a:off x="1114425" y="36576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3" name="TextBox 13">
            <a:extLst>
              <a:ext uri="{FF2B5EF4-FFF2-40B4-BE49-F238E27FC236}">
                <a16:creationId xmlns:a16="http://schemas.microsoft.com/office/drawing/2014/main" id="{79666FB5-5D76-40BF-95C6-6F15D288D307}"/>
              </a:ext>
            </a:extLst>
          </p:cNvPr>
          <p:cNvSpPr txBox="1"/>
          <p:nvPr/>
        </p:nvSpPr>
        <p:spPr>
          <a:xfrm>
            <a:off x="1209675" y="3657600"/>
            <a:ext cx="4552950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Almacenamiento del token en el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localStorage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del navegador.</a:t>
            </a:r>
          </a:p>
        </p:txBody>
      </p:sp>
      <p:sp>
        <p:nvSpPr>
          <p:cNvPr id="54" name="TextBox 14">
            <a:extLst>
              <a:ext uri="{FF2B5EF4-FFF2-40B4-BE49-F238E27FC236}">
                <a16:creationId xmlns:a16="http://schemas.microsoft.com/office/drawing/2014/main" id="{2571317F-C457-48DA-B5F0-FEB2A520EE20}"/>
              </a:ext>
            </a:extLst>
          </p:cNvPr>
          <p:cNvSpPr txBox="1"/>
          <p:nvPr/>
        </p:nvSpPr>
        <p:spPr>
          <a:xfrm>
            <a:off x="1114425" y="42862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5" name="TextBox 15">
            <a:extLst>
              <a:ext uri="{FF2B5EF4-FFF2-40B4-BE49-F238E27FC236}">
                <a16:creationId xmlns:a16="http://schemas.microsoft.com/office/drawing/2014/main" id="{24565687-2743-4822-883A-99420B4299BC}"/>
              </a:ext>
            </a:extLst>
          </p:cNvPr>
          <p:cNvSpPr txBox="1"/>
          <p:nvPr/>
        </p:nvSpPr>
        <p:spPr>
          <a:xfrm>
            <a:off x="1209675" y="4286250"/>
            <a:ext cx="4552950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Uso de un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interceptor de Axios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para inyectar automáticamente la cabecera:</a:t>
            </a:r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1671BA05-5AAA-4339-B52C-1615C78BA67D}"/>
              </a:ext>
            </a:extLst>
          </p:cNvPr>
          <p:cNvSpPr txBox="1"/>
          <p:nvPr/>
        </p:nvSpPr>
        <p:spPr>
          <a:xfrm>
            <a:off x="723900" y="7239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Reto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 </a:t>
            </a:r>
            <a:r>
              <a:rPr lang="es-ES" sz="3000" b="1" i="0" u="none" dirty="0">
                <a:solidFill>
                  <a:srgbClr val="0F172A"/>
                </a:solidFill>
                <a:latin typeface="Outfit"/>
              </a:rPr>
              <a:t>2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: </a:t>
            </a:r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Integración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 del Login con React</a:t>
            </a:r>
          </a:p>
        </p:txBody>
      </p:sp>
    </p:spTree>
    <p:extLst>
      <p:ext uri="{BB962C8B-B14F-4D97-AF65-F5344CB8AC3E}">
        <p14:creationId xmlns:p14="http://schemas.microsoft.com/office/powerpoint/2010/main" val="2829374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57450"/>
            <a:ext cx="5381625" cy="2190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457450"/>
            <a:ext cx="5381625" cy="2190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¿Por qué AgroSoft?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7437" y="4886325"/>
            <a:ext cx="7477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059669"/>
                </a:solidFill>
                <a:latin typeface="Inter"/>
              </a:rPr>
              <a:t>“Transformamos información agrícola en una herramienta para gestionar mejor.”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752725"/>
            <a:ext cx="503062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E123C"/>
                </a:solidFill>
                <a:latin typeface="Plus Jakarta Sans"/>
              </a:rPr>
              <a:t>SIN UNA PLATAFORMA CENTRALIZADA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752725"/>
            <a:ext cx="503062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47857"/>
                </a:solidFill>
                <a:latin typeface="Plus Jakarta Sans"/>
              </a:rPr>
              <a:t>CON AGROSOFT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9562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Información dispersa en múltiples registros.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42900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Procesos manuales y repetitivos.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76237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Dificultad para consultar datos históricos.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09575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Seguimiento fragmentado y limitado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09562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Información centralizada en la web.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342900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Gestión digital ágil y organizada.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3762375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Consulta rápida y trazabilidad garantizada.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4095750"/>
            <a:ext cx="47910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✓ Control de accesos mediante roles seguros.</a:t>
            </a:r>
          </a:p>
        </p:txBody>
      </p:sp>
      <p:pic>
        <p:nvPicPr>
          <p:cNvPr id="16" name="Picture 1" descr="image.png">
            <a:extLst>
              <a:ext uri="{FF2B5EF4-FFF2-40B4-BE49-F238E27FC236}">
                <a16:creationId xmlns:a16="http://schemas.microsoft.com/office/drawing/2014/main" id="{5DB9BA74-4094-46D3-B9F6-0D72B1FC5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" descr="image.png">
            <a:extLst>
              <a:ext uri="{FF2B5EF4-FFF2-40B4-BE49-F238E27FC236}">
                <a16:creationId xmlns:a16="http://schemas.microsoft.com/office/drawing/2014/main" id="{D33C2406-6CA5-4EFF-AC61-484BE2FE1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-109538"/>
            <a:ext cx="12192000" cy="6858000"/>
          </a:xfrm>
          <a:prstGeom prst="rect">
            <a:avLst/>
          </a:prstGeom>
        </p:spPr>
      </p:pic>
      <p:pic>
        <p:nvPicPr>
          <p:cNvPr id="18" name="Picture 2" descr="image.png">
            <a:extLst>
              <a:ext uri="{FF2B5EF4-FFF2-40B4-BE49-F238E27FC236}">
                <a16:creationId xmlns:a16="http://schemas.microsoft.com/office/drawing/2014/main" id="{CFD50E19-4C1B-44CA-937A-FC7102AB9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57800"/>
            <a:ext cx="11049000" cy="762000"/>
          </a:xfrm>
          <a:prstGeom prst="rect">
            <a:avLst/>
          </a:prstGeom>
        </p:spPr>
      </p:pic>
      <p:pic>
        <p:nvPicPr>
          <p:cNvPr id="19" name="Picture 3" descr="image.png">
            <a:extLst>
              <a:ext uri="{FF2B5EF4-FFF2-40B4-BE49-F238E27FC236}">
                <a16:creationId xmlns:a16="http://schemas.microsoft.com/office/drawing/2014/main" id="{A63D93E4-EBB8-4371-8571-0F7C87F8E4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62225"/>
            <a:ext cx="5334000" cy="2409825"/>
          </a:xfrm>
          <a:prstGeom prst="rect">
            <a:avLst/>
          </a:prstGeom>
        </p:spPr>
      </p:pic>
      <p:pic>
        <p:nvPicPr>
          <p:cNvPr id="20" name="Picture 4" descr="image.png">
            <a:extLst>
              <a:ext uri="{FF2B5EF4-FFF2-40B4-BE49-F238E27FC236}">
                <a16:creationId xmlns:a16="http://schemas.microsoft.com/office/drawing/2014/main" id="{9F90BB99-D862-46AA-AD90-0813055B1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1928812"/>
            <a:ext cx="5334000" cy="2714625"/>
          </a:xfrm>
          <a:prstGeom prst="rect">
            <a:avLst/>
          </a:prstGeom>
        </p:spPr>
      </p:pic>
      <p:pic>
        <p:nvPicPr>
          <p:cNvPr id="21" name="Picture 5" descr="image.png">
            <a:extLst>
              <a:ext uri="{FF2B5EF4-FFF2-40B4-BE49-F238E27FC236}">
                <a16:creationId xmlns:a16="http://schemas.microsoft.com/office/drawing/2014/main" id="{54527E12-0FCB-414C-BAEB-ABECC28E18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2224087"/>
            <a:ext cx="1905000" cy="447675"/>
          </a:xfrm>
          <a:prstGeom prst="rect">
            <a:avLst/>
          </a:prstGeom>
        </p:spPr>
      </p:pic>
      <p:pic>
        <p:nvPicPr>
          <p:cNvPr id="22" name="Picture 6" descr="image.png">
            <a:extLst>
              <a:ext uri="{FF2B5EF4-FFF2-40B4-BE49-F238E27FC236}">
                <a16:creationId xmlns:a16="http://schemas.microsoft.com/office/drawing/2014/main" id="{9506C164-6866-4361-9989-FBCBD98596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3062287"/>
            <a:ext cx="1905000" cy="447675"/>
          </a:xfrm>
          <a:prstGeom prst="rect">
            <a:avLst/>
          </a:prstGeom>
        </p:spPr>
      </p:pic>
      <p:pic>
        <p:nvPicPr>
          <p:cNvPr id="23" name="Picture 7" descr="image.png">
            <a:extLst>
              <a:ext uri="{FF2B5EF4-FFF2-40B4-BE49-F238E27FC236}">
                <a16:creationId xmlns:a16="http://schemas.microsoft.com/office/drawing/2014/main" id="{F53D026C-98B5-459D-9FC4-3A39125F1F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3900487"/>
            <a:ext cx="1905000" cy="447675"/>
          </a:xfrm>
          <a:prstGeom prst="rect">
            <a:avLst/>
          </a:prstGeom>
        </p:spPr>
      </p:pic>
      <p:sp>
        <p:nvSpPr>
          <p:cNvPr id="24" name="TextBox 8">
            <a:extLst>
              <a:ext uri="{FF2B5EF4-FFF2-40B4-BE49-F238E27FC236}">
                <a16:creationId xmlns:a16="http://schemas.microsoft.com/office/drawing/2014/main" id="{E8A605D3-2F27-44FE-9AD1-384986CC7373}"/>
              </a:ext>
            </a:extLst>
          </p:cNvPr>
          <p:cNvSpPr txBox="1"/>
          <p:nvPr/>
        </p:nvSpPr>
        <p:spPr>
          <a:xfrm>
            <a:off x="914400" y="5495925"/>
            <a:ext cx="104203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1" u="none">
                <a:solidFill>
                  <a:srgbClr val="064E3B"/>
                </a:solidFill>
                <a:latin typeface="Plus Jakarta Sans Medium"/>
              </a:rPr>
              <a:t>“No basta con construir frontend y backend; ambos deben hablar el mismo idioma.”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4D7E923D-6172-497F-8942-7CE4F416DB2D}"/>
              </a:ext>
            </a:extLst>
          </p:cNvPr>
          <p:cNvSpPr txBox="1"/>
          <p:nvPr/>
        </p:nvSpPr>
        <p:spPr>
          <a:xfrm>
            <a:off x="571500" y="1600200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Uno de los retos principales fue lograr que la interfaz en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React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pudiera comunicarse correctamente con el backend en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NestJS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mediante API REST y Axios.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B2E61009-9F44-4A33-A2C6-FE30DA86F963}"/>
              </a:ext>
            </a:extLst>
          </p:cNvPr>
          <p:cNvSpPr txBox="1"/>
          <p:nvPr/>
        </p:nvSpPr>
        <p:spPr>
          <a:xfrm>
            <a:off x="866775" y="2857500"/>
            <a:ext cx="4980622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Outfit"/>
              </a:rPr>
              <a:t>Problemas comunes: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6DE2F6DD-1C45-4337-AD87-5238A564DF42}"/>
              </a:ext>
            </a:extLst>
          </p:cNvPr>
          <p:cNvSpPr txBox="1"/>
          <p:nvPr/>
        </p:nvSpPr>
        <p:spPr>
          <a:xfrm>
            <a:off x="8691562" y="2767012"/>
            <a:ext cx="523875" cy="2000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Axios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55CCB9F1-1377-4461-AA01-7DF3EBE7280A}"/>
              </a:ext>
            </a:extLst>
          </p:cNvPr>
          <p:cNvSpPr txBox="1"/>
          <p:nvPr/>
        </p:nvSpPr>
        <p:spPr>
          <a:xfrm>
            <a:off x="8591550" y="3605212"/>
            <a:ext cx="723900" cy="2000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Servicio</a:t>
            </a:r>
          </a:p>
        </p:txBody>
      </p:sp>
      <p:pic>
        <p:nvPicPr>
          <p:cNvPr id="29" name="Picture 13" descr="image.png">
            <a:extLst>
              <a:ext uri="{FF2B5EF4-FFF2-40B4-BE49-F238E27FC236}">
                <a16:creationId xmlns:a16="http://schemas.microsoft.com/office/drawing/2014/main" id="{B71044A0-2D97-45F5-91F7-1A969B7A03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2886075"/>
            <a:ext cx="171450" cy="171450"/>
          </a:xfrm>
          <a:prstGeom prst="rect">
            <a:avLst/>
          </a:prstGeom>
        </p:spPr>
      </p:pic>
      <p:sp>
        <p:nvSpPr>
          <p:cNvPr id="30" name="TextBox 14">
            <a:extLst>
              <a:ext uri="{FF2B5EF4-FFF2-40B4-BE49-F238E27FC236}">
                <a16:creationId xmlns:a16="http://schemas.microsoft.com/office/drawing/2014/main" id="{210380CD-3BC9-4FF6-BC2D-07A7C2D743C6}"/>
              </a:ext>
            </a:extLst>
          </p:cNvPr>
          <p:cNvSpPr txBox="1"/>
          <p:nvPr/>
        </p:nvSpPr>
        <p:spPr>
          <a:xfrm>
            <a:off x="962025" y="31908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864894FE-0AA2-4269-A619-5341580E3B3F}"/>
              </a:ext>
            </a:extLst>
          </p:cNvPr>
          <p:cNvSpPr txBox="1"/>
          <p:nvPr/>
        </p:nvSpPr>
        <p:spPr>
          <a:xfrm>
            <a:off x="1057275" y="3190875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Rutas incorrectas y puertos diferentes.</a:t>
            </a: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F020D0C1-54DE-4022-A7C8-76B2AEECC96C}"/>
              </a:ext>
            </a:extLst>
          </p:cNvPr>
          <p:cNvSpPr txBox="1"/>
          <p:nvPr/>
        </p:nvSpPr>
        <p:spPr>
          <a:xfrm>
            <a:off x="962025" y="35623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5F26AC1C-BDA7-4CC8-BDB5-9ADF15FD540D}"/>
              </a:ext>
            </a:extLst>
          </p:cNvPr>
          <p:cNvSpPr txBox="1"/>
          <p:nvPr/>
        </p:nvSpPr>
        <p:spPr>
          <a:xfrm>
            <a:off x="1057275" y="3562350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Errores CORS entre dominios.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967F4340-2C66-4DDE-933D-2539C7AFB6D0}"/>
              </a:ext>
            </a:extLst>
          </p:cNvPr>
          <p:cNvSpPr txBox="1"/>
          <p:nvPr/>
        </p:nvSpPr>
        <p:spPr>
          <a:xfrm>
            <a:off x="962025" y="39338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19">
            <a:extLst>
              <a:ext uri="{FF2B5EF4-FFF2-40B4-BE49-F238E27FC236}">
                <a16:creationId xmlns:a16="http://schemas.microsoft.com/office/drawing/2014/main" id="{A16D0259-2E92-40E7-BA5D-9A6D4F7134C9}"/>
              </a:ext>
            </a:extLst>
          </p:cNvPr>
          <p:cNvSpPr txBox="1"/>
          <p:nvPr/>
        </p:nvSpPr>
        <p:spPr>
          <a:xfrm>
            <a:off x="1057275" y="3933825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Datos enviados con estructura incorrecta.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5A416084-72E9-4D01-A92C-9B0DA9D6D145}"/>
              </a:ext>
            </a:extLst>
          </p:cNvPr>
          <p:cNvSpPr txBox="1"/>
          <p:nvPr/>
        </p:nvSpPr>
        <p:spPr>
          <a:xfrm>
            <a:off x="962025" y="43053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66D29AF2-2F07-49A0-9A31-2DA696CC8923}"/>
              </a:ext>
            </a:extLst>
          </p:cNvPr>
          <p:cNvSpPr txBox="1"/>
          <p:nvPr/>
        </p:nvSpPr>
        <p:spPr>
          <a:xfrm>
            <a:off x="1057275" y="4305300"/>
            <a:ext cx="4552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Respuestas inesperadas por el frontend.</a:t>
            </a:r>
          </a:p>
        </p:txBody>
      </p:sp>
      <p:pic>
        <p:nvPicPr>
          <p:cNvPr id="38" name="Picture 22" descr="image.png">
            <a:extLst>
              <a:ext uri="{FF2B5EF4-FFF2-40B4-BE49-F238E27FC236}">
                <a16:creationId xmlns:a16="http://schemas.microsoft.com/office/drawing/2014/main" id="{F5065EE2-9FC0-45B9-BEA8-D4F2A819E5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1562" y="2795587"/>
            <a:ext cx="114300" cy="152400"/>
          </a:xfrm>
          <a:prstGeom prst="rect">
            <a:avLst/>
          </a:prstGeom>
        </p:spPr>
      </p:pic>
      <p:pic>
        <p:nvPicPr>
          <p:cNvPr id="39" name="Picture 23" descr="image.png">
            <a:extLst>
              <a:ext uri="{FF2B5EF4-FFF2-40B4-BE49-F238E27FC236}">
                <a16:creationId xmlns:a16="http://schemas.microsoft.com/office/drawing/2014/main" id="{6FCDE2B3-D4C7-45E9-A5BD-A375FAB3E9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1550" y="3633787"/>
            <a:ext cx="114300" cy="152400"/>
          </a:xfrm>
          <a:prstGeom prst="rect">
            <a:avLst/>
          </a:prstGeom>
        </p:spPr>
      </p:pic>
      <p:sp>
        <p:nvSpPr>
          <p:cNvPr id="40" name="TextBox 24">
            <a:extLst>
              <a:ext uri="{FF2B5EF4-FFF2-40B4-BE49-F238E27FC236}">
                <a16:creationId xmlns:a16="http://schemas.microsoft.com/office/drawing/2014/main" id="{B14625D1-E667-4C1C-8367-CBD025C8EA78}"/>
              </a:ext>
            </a:extLst>
          </p:cNvPr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Outfit"/>
              </a:rPr>
              <a:t>Reto 1: Conexión entre Frontend y Backend</a:t>
            </a:r>
          </a:p>
        </p:txBody>
      </p:sp>
      <p:pic>
        <p:nvPicPr>
          <p:cNvPr id="41" name="Picture 1" descr="image.png">
            <a:extLst>
              <a:ext uri="{FF2B5EF4-FFF2-40B4-BE49-F238E27FC236}">
                <a16:creationId xmlns:a16="http://schemas.microsoft.com/office/drawing/2014/main" id="{48E50F9E-FD50-4BB2-8719-E6F5D0FB1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57150"/>
            <a:ext cx="12192000" cy="6858000"/>
          </a:xfrm>
          <a:prstGeom prst="rect">
            <a:avLst/>
          </a:prstGeom>
        </p:spPr>
      </p:pic>
      <p:pic>
        <p:nvPicPr>
          <p:cNvPr id="42" name="Picture 2" descr="image.png">
            <a:extLst>
              <a:ext uri="{FF2B5EF4-FFF2-40B4-BE49-F238E27FC236}">
                <a16:creationId xmlns:a16="http://schemas.microsoft.com/office/drawing/2014/main" id="{78687AB8-CC62-423E-A8DA-6A80714196C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3028950"/>
            <a:ext cx="5334000" cy="2524125"/>
          </a:xfrm>
          <a:prstGeom prst="rect">
            <a:avLst/>
          </a:prstGeom>
        </p:spPr>
      </p:pic>
      <p:pic>
        <p:nvPicPr>
          <p:cNvPr id="43" name="Picture 3" descr="image.png">
            <a:extLst>
              <a:ext uri="{FF2B5EF4-FFF2-40B4-BE49-F238E27FC236}">
                <a16:creationId xmlns:a16="http://schemas.microsoft.com/office/drawing/2014/main" id="{97371905-0ED0-4DE7-A522-178AB6E973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628900"/>
            <a:ext cx="5334000" cy="2667000"/>
          </a:xfrm>
          <a:prstGeom prst="rect">
            <a:avLst/>
          </a:prstGeom>
        </p:spPr>
      </p:pic>
      <p:pic>
        <p:nvPicPr>
          <p:cNvPr id="44" name="Picture 4" descr="image.png">
            <a:extLst>
              <a:ext uri="{FF2B5EF4-FFF2-40B4-BE49-F238E27FC236}">
                <a16:creationId xmlns:a16="http://schemas.microsoft.com/office/drawing/2014/main" id="{27D8DDA1-03FA-4127-8E25-E8E297AAFF8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9175" y="4914900"/>
            <a:ext cx="4743450" cy="342900"/>
          </a:xfrm>
          <a:prstGeom prst="rect">
            <a:avLst/>
          </a:prstGeom>
        </p:spPr>
      </p:pic>
      <p:pic>
        <p:nvPicPr>
          <p:cNvPr id="45" name="Picture 5" descr="image.png">
            <a:extLst>
              <a:ext uri="{FF2B5EF4-FFF2-40B4-BE49-F238E27FC236}">
                <a16:creationId xmlns:a16="http://schemas.microsoft.com/office/drawing/2014/main" id="{965B3581-B49B-4756-9D53-68DBA18DDBE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77187" y="2924175"/>
            <a:ext cx="2257425" cy="447675"/>
          </a:xfrm>
          <a:prstGeom prst="rect">
            <a:avLst/>
          </a:prstGeom>
        </p:spPr>
      </p:pic>
      <p:pic>
        <p:nvPicPr>
          <p:cNvPr id="46" name="Picture 6" descr="image.png">
            <a:extLst>
              <a:ext uri="{FF2B5EF4-FFF2-40B4-BE49-F238E27FC236}">
                <a16:creationId xmlns:a16="http://schemas.microsoft.com/office/drawing/2014/main" id="{6235C152-4234-49DF-9E8D-1586D66F81E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6200" y="3467100"/>
            <a:ext cx="2819400" cy="447675"/>
          </a:xfrm>
          <a:prstGeom prst="rect">
            <a:avLst/>
          </a:prstGeom>
        </p:spPr>
      </p:pic>
      <p:pic>
        <p:nvPicPr>
          <p:cNvPr id="47" name="Picture 7" descr="image.png">
            <a:extLst>
              <a:ext uri="{FF2B5EF4-FFF2-40B4-BE49-F238E27FC236}">
                <a16:creationId xmlns:a16="http://schemas.microsoft.com/office/drawing/2014/main" id="{37276A88-C612-4B1F-A306-825A491ADD1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4010025"/>
            <a:ext cx="3124200" cy="447675"/>
          </a:xfrm>
          <a:prstGeom prst="rect">
            <a:avLst/>
          </a:prstGeom>
        </p:spPr>
      </p:pic>
      <p:pic>
        <p:nvPicPr>
          <p:cNvPr id="48" name="Picture 8" descr="image.png">
            <a:extLst>
              <a:ext uri="{FF2B5EF4-FFF2-40B4-BE49-F238E27FC236}">
                <a16:creationId xmlns:a16="http://schemas.microsoft.com/office/drawing/2014/main" id="{1FB44505-6DBF-4842-AC3F-669328C60FB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86637" y="4552950"/>
            <a:ext cx="3438525" cy="447675"/>
          </a:xfrm>
          <a:prstGeom prst="rect">
            <a:avLst/>
          </a:prstGeom>
        </p:spPr>
      </p:pic>
      <p:sp>
        <p:nvSpPr>
          <p:cNvPr id="49" name="TextBox 9">
            <a:extLst>
              <a:ext uri="{FF2B5EF4-FFF2-40B4-BE49-F238E27FC236}">
                <a16:creationId xmlns:a16="http://schemas.microsoft.com/office/drawing/2014/main" id="{1AF61E79-037B-410F-B0E3-6921D4F3D090}"/>
              </a:ext>
            </a:extLst>
          </p:cNvPr>
          <p:cNvSpPr txBox="1"/>
          <p:nvPr/>
        </p:nvSpPr>
        <p:spPr>
          <a:xfrm>
            <a:off x="723900" y="2371725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Mantener la sesión activa del usuario conectando el backend con la interfaz de usuario de manera segura y fluida.</a:t>
            </a:r>
          </a:p>
        </p:txBody>
      </p:sp>
      <p:sp>
        <p:nvSpPr>
          <p:cNvPr id="50" name="TextBox 10">
            <a:extLst>
              <a:ext uri="{FF2B5EF4-FFF2-40B4-BE49-F238E27FC236}">
                <a16:creationId xmlns:a16="http://schemas.microsoft.com/office/drawing/2014/main" id="{FCEDA1F7-F160-4250-9971-B8AEC70CEA1E}"/>
              </a:ext>
            </a:extLst>
          </p:cNvPr>
          <p:cNvSpPr txBox="1"/>
          <p:nvPr/>
        </p:nvSpPr>
        <p:spPr>
          <a:xfrm>
            <a:off x="1019175" y="3324225"/>
            <a:ext cx="4980622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Outfit"/>
              </a:rPr>
              <a:t>Mecanismo implementado:</a:t>
            </a:r>
          </a:p>
        </p:txBody>
      </p:sp>
      <p:pic>
        <p:nvPicPr>
          <p:cNvPr id="51" name="Picture 11" descr="image.png">
            <a:extLst>
              <a:ext uri="{FF2B5EF4-FFF2-40B4-BE49-F238E27FC236}">
                <a16:creationId xmlns:a16="http://schemas.microsoft.com/office/drawing/2014/main" id="{294F4AE4-ADDB-4966-8DCE-6C16DF8F252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9175" y="3352800"/>
            <a:ext cx="171450" cy="171450"/>
          </a:xfrm>
          <a:prstGeom prst="rect">
            <a:avLst/>
          </a:prstGeom>
        </p:spPr>
      </p:pic>
      <p:sp>
        <p:nvSpPr>
          <p:cNvPr id="52" name="TextBox 12">
            <a:extLst>
              <a:ext uri="{FF2B5EF4-FFF2-40B4-BE49-F238E27FC236}">
                <a16:creationId xmlns:a16="http://schemas.microsoft.com/office/drawing/2014/main" id="{BD46426A-7B46-40E1-B023-4F0C1976C4DD}"/>
              </a:ext>
            </a:extLst>
          </p:cNvPr>
          <p:cNvSpPr txBox="1"/>
          <p:nvPr/>
        </p:nvSpPr>
        <p:spPr>
          <a:xfrm>
            <a:off x="1114425" y="36576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3" name="TextBox 13">
            <a:extLst>
              <a:ext uri="{FF2B5EF4-FFF2-40B4-BE49-F238E27FC236}">
                <a16:creationId xmlns:a16="http://schemas.microsoft.com/office/drawing/2014/main" id="{79666FB5-5D76-40BF-95C6-6F15D288D307}"/>
              </a:ext>
            </a:extLst>
          </p:cNvPr>
          <p:cNvSpPr txBox="1"/>
          <p:nvPr/>
        </p:nvSpPr>
        <p:spPr>
          <a:xfrm>
            <a:off x="1209675" y="3657600"/>
            <a:ext cx="4552950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Almacenamiento del token en el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localStorage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del navegador.</a:t>
            </a:r>
          </a:p>
        </p:txBody>
      </p:sp>
      <p:sp>
        <p:nvSpPr>
          <p:cNvPr id="54" name="TextBox 14">
            <a:extLst>
              <a:ext uri="{FF2B5EF4-FFF2-40B4-BE49-F238E27FC236}">
                <a16:creationId xmlns:a16="http://schemas.microsoft.com/office/drawing/2014/main" id="{2571317F-C457-48DA-B5F0-FEB2A520EE20}"/>
              </a:ext>
            </a:extLst>
          </p:cNvPr>
          <p:cNvSpPr txBox="1"/>
          <p:nvPr/>
        </p:nvSpPr>
        <p:spPr>
          <a:xfrm>
            <a:off x="1114425" y="42862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5" name="TextBox 15">
            <a:extLst>
              <a:ext uri="{FF2B5EF4-FFF2-40B4-BE49-F238E27FC236}">
                <a16:creationId xmlns:a16="http://schemas.microsoft.com/office/drawing/2014/main" id="{24565687-2743-4822-883A-99420B4299BC}"/>
              </a:ext>
            </a:extLst>
          </p:cNvPr>
          <p:cNvSpPr txBox="1"/>
          <p:nvPr/>
        </p:nvSpPr>
        <p:spPr>
          <a:xfrm>
            <a:off x="1209675" y="4286250"/>
            <a:ext cx="4552950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Uso de un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interceptor de Axios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para inyectar automáticamente la cabecera:</a:t>
            </a:r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1671BA05-5AAA-4339-B52C-1615C78BA67D}"/>
              </a:ext>
            </a:extLst>
          </p:cNvPr>
          <p:cNvSpPr txBox="1"/>
          <p:nvPr/>
        </p:nvSpPr>
        <p:spPr>
          <a:xfrm>
            <a:off x="723900" y="7239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Reto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 </a:t>
            </a:r>
            <a:r>
              <a:rPr lang="es-ES" sz="3000" b="1" i="0" u="none" dirty="0">
                <a:solidFill>
                  <a:srgbClr val="0F172A"/>
                </a:solidFill>
                <a:latin typeface="Outfit"/>
              </a:rPr>
              <a:t>2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: </a:t>
            </a:r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Integración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 del Login con React</a:t>
            </a:r>
          </a:p>
        </p:txBody>
      </p:sp>
      <p:pic>
        <p:nvPicPr>
          <p:cNvPr id="57" name="Picture 1" descr="image.png">
            <a:extLst>
              <a:ext uri="{FF2B5EF4-FFF2-40B4-BE49-F238E27FC236}">
                <a16:creationId xmlns:a16="http://schemas.microsoft.com/office/drawing/2014/main" id="{C1D2930D-1670-4837-AE2E-71C9416F8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49" y="-114300"/>
            <a:ext cx="12192000" cy="6858000"/>
          </a:xfrm>
          <a:prstGeom prst="rect">
            <a:avLst/>
          </a:prstGeom>
        </p:spPr>
      </p:pic>
      <p:pic>
        <p:nvPicPr>
          <p:cNvPr id="58" name="Picture 2" descr="image.png">
            <a:extLst>
              <a:ext uri="{FF2B5EF4-FFF2-40B4-BE49-F238E27FC236}">
                <a16:creationId xmlns:a16="http://schemas.microsoft.com/office/drawing/2014/main" id="{9A81BD0E-1B19-4854-A1BF-5521B1CA960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6300" y="4872037"/>
            <a:ext cx="11049000" cy="762000"/>
          </a:xfrm>
          <a:prstGeom prst="rect">
            <a:avLst/>
          </a:prstGeom>
        </p:spPr>
      </p:pic>
      <p:pic>
        <p:nvPicPr>
          <p:cNvPr id="59" name="Picture 3" descr="image.png">
            <a:extLst>
              <a:ext uri="{FF2B5EF4-FFF2-40B4-BE49-F238E27FC236}">
                <a16:creationId xmlns:a16="http://schemas.microsoft.com/office/drawing/2014/main" id="{E3E317C6-0EFF-4965-937E-0134D8EAB49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6300" y="2595562"/>
            <a:ext cx="3524250" cy="2085975"/>
          </a:xfrm>
          <a:prstGeom prst="rect">
            <a:avLst/>
          </a:prstGeom>
        </p:spPr>
      </p:pic>
      <p:pic>
        <p:nvPicPr>
          <p:cNvPr id="60" name="Picture 4" descr="image.png">
            <a:extLst>
              <a:ext uri="{FF2B5EF4-FFF2-40B4-BE49-F238E27FC236}">
                <a16:creationId xmlns:a16="http://schemas.microsoft.com/office/drawing/2014/main" id="{6B6C81FE-D17D-495A-84EB-99D02627386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38675" y="2595562"/>
            <a:ext cx="3524250" cy="2085975"/>
          </a:xfrm>
          <a:prstGeom prst="rect">
            <a:avLst/>
          </a:prstGeom>
        </p:spPr>
      </p:pic>
      <p:pic>
        <p:nvPicPr>
          <p:cNvPr id="61" name="Picture 5" descr="image.png">
            <a:extLst>
              <a:ext uri="{FF2B5EF4-FFF2-40B4-BE49-F238E27FC236}">
                <a16:creationId xmlns:a16="http://schemas.microsoft.com/office/drawing/2014/main" id="{67E3A3E8-604B-41F4-A81F-777977255BF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01050" y="2595562"/>
            <a:ext cx="3524250" cy="2085975"/>
          </a:xfrm>
          <a:prstGeom prst="rect">
            <a:avLst/>
          </a:prstGeom>
        </p:spPr>
      </p:pic>
      <p:sp>
        <p:nvSpPr>
          <p:cNvPr id="62" name="TextBox 6">
            <a:extLst>
              <a:ext uri="{FF2B5EF4-FFF2-40B4-BE49-F238E27FC236}">
                <a16:creationId xmlns:a16="http://schemas.microsoft.com/office/drawing/2014/main" id="{F4FC5A83-9456-4857-AB76-89C0CACBBF5E}"/>
              </a:ext>
            </a:extLst>
          </p:cNvPr>
          <p:cNvSpPr txBox="1"/>
          <p:nvPr/>
        </p:nvSpPr>
        <p:spPr>
          <a:xfrm>
            <a:off x="1219200" y="5110162"/>
            <a:ext cx="104203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1" u="none">
                <a:solidFill>
                  <a:srgbClr val="064E3B"/>
                </a:solidFill>
                <a:latin typeface="Plus Jakarta Sans Medium"/>
              </a:rPr>
              <a:t>Primera versión → Correcciones iterativas → Diseño actual intuitivo y profesional.</a:t>
            </a:r>
          </a:p>
        </p:txBody>
      </p:sp>
      <p:pic>
        <p:nvPicPr>
          <p:cNvPr id="63" name="Picture 7" descr="image.png">
            <a:extLst>
              <a:ext uri="{FF2B5EF4-FFF2-40B4-BE49-F238E27FC236}">
                <a16:creationId xmlns:a16="http://schemas.microsoft.com/office/drawing/2014/main" id="{C467182E-EC12-4B35-825E-4105E030E3D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66975" y="2843212"/>
            <a:ext cx="342900" cy="342900"/>
          </a:xfrm>
          <a:prstGeom prst="rect">
            <a:avLst/>
          </a:prstGeom>
        </p:spPr>
      </p:pic>
      <p:sp>
        <p:nvSpPr>
          <p:cNvPr id="64" name="TextBox 8">
            <a:extLst>
              <a:ext uri="{FF2B5EF4-FFF2-40B4-BE49-F238E27FC236}">
                <a16:creationId xmlns:a16="http://schemas.microsoft.com/office/drawing/2014/main" id="{473128FB-BF7F-45B5-AD03-68F7BFA56936}"/>
              </a:ext>
            </a:extLst>
          </p:cNvPr>
          <p:cNvSpPr txBox="1"/>
          <p:nvPr/>
        </p:nvSpPr>
        <p:spPr>
          <a:xfrm>
            <a:off x="2028348" y="3328987"/>
            <a:ext cx="122015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293B"/>
                </a:solidFill>
                <a:latin typeface="Outfit"/>
              </a:rPr>
              <a:t>Estructura UI</a:t>
            </a:r>
          </a:p>
        </p:txBody>
      </p:sp>
      <p:sp>
        <p:nvSpPr>
          <p:cNvPr id="65" name="TextBox 9">
            <a:extLst>
              <a:ext uri="{FF2B5EF4-FFF2-40B4-BE49-F238E27FC236}">
                <a16:creationId xmlns:a16="http://schemas.microsoft.com/office/drawing/2014/main" id="{15479F1E-E675-42AD-8010-59E60A28BA47}"/>
              </a:ext>
            </a:extLst>
          </p:cNvPr>
          <p:cNvSpPr txBox="1"/>
          <p:nvPr/>
        </p:nvSpPr>
        <p:spPr>
          <a:xfrm>
            <a:off x="1123950" y="3662362"/>
            <a:ext cx="3028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Organización de la barra lateral, módulos principales y navegación fluida.</a:t>
            </a:r>
          </a:p>
        </p:txBody>
      </p:sp>
      <p:pic>
        <p:nvPicPr>
          <p:cNvPr id="66" name="Picture 10" descr="image.png">
            <a:extLst>
              <a:ext uri="{FF2B5EF4-FFF2-40B4-BE49-F238E27FC236}">
                <a16:creationId xmlns:a16="http://schemas.microsoft.com/office/drawing/2014/main" id="{51CFEE4E-857A-4085-BD7A-A395BADBF15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72212" y="2971800"/>
            <a:ext cx="257175" cy="342900"/>
          </a:xfrm>
          <a:prstGeom prst="rect">
            <a:avLst/>
          </a:prstGeom>
        </p:spPr>
      </p:pic>
      <p:sp>
        <p:nvSpPr>
          <p:cNvPr id="67" name="TextBox 11">
            <a:extLst>
              <a:ext uri="{FF2B5EF4-FFF2-40B4-BE49-F238E27FC236}">
                <a16:creationId xmlns:a16="http://schemas.microsoft.com/office/drawing/2014/main" id="{B01B8D07-DD34-4244-B63A-A0A2A93F195D}"/>
              </a:ext>
            </a:extLst>
          </p:cNvPr>
          <p:cNvSpPr txBox="1"/>
          <p:nvPr/>
        </p:nvSpPr>
        <p:spPr>
          <a:xfrm>
            <a:off x="5730716" y="3457575"/>
            <a:ext cx="134016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293B"/>
                </a:solidFill>
                <a:latin typeface="Outfit"/>
              </a:rPr>
              <a:t>Adaptabilidad</a:t>
            </a:r>
          </a:p>
        </p:txBody>
      </p:sp>
      <p:sp>
        <p:nvSpPr>
          <p:cNvPr id="68" name="TextBox 12">
            <a:extLst>
              <a:ext uri="{FF2B5EF4-FFF2-40B4-BE49-F238E27FC236}">
                <a16:creationId xmlns:a16="http://schemas.microsoft.com/office/drawing/2014/main" id="{75BAB1AF-A0F9-415F-A5D3-ED9B3B74CE78}"/>
              </a:ext>
            </a:extLst>
          </p:cNvPr>
          <p:cNvSpPr txBox="1"/>
          <p:nvPr/>
        </p:nvSpPr>
        <p:spPr>
          <a:xfrm>
            <a:off x="4886325" y="3790950"/>
            <a:ext cx="3028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Diseño responsive para diversos tamaños de pantalla y dispositivos.</a:t>
            </a:r>
          </a:p>
        </p:txBody>
      </p:sp>
      <p:pic>
        <p:nvPicPr>
          <p:cNvPr id="69" name="Picture 13" descr="image.png">
            <a:extLst>
              <a:ext uri="{FF2B5EF4-FFF2-40B4-BE49-F238E27FC236}">
                <a16:creationId xmlns:a16="http://schemas.microsoft.com/office/drawing/2014/main" id="{E2D07C48-84F0-49A5-A19A-091B4B6DBEC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91725" y="2843212"/>
            <a:ext cx="342900" cy="342900"/>
          </a:xfrm>
          <a:prstGeom prst="rect">
            <a:avLst/>
          </a:prstGeom>
        </p:spPr>
      </p:pic>
      <p:sp>
        <p:nvSpPr>
          <p:cNvPr id="70" name="TextBox 14">
            <a:extLst>
              <a:ext uri="{FF2B5EF4-FFF2-40B4-BE49-F238E27FC236}">
                <a16:creationId xmlns:a16="http://schemas.microsoft.com/office/drawing/2014/main" id="{5CA13EC3-3A1B-416B-BF29-0E3E4F3DD86A}"/>
              </a:ext>
            </a:extLst>
          </p:cNvPr>
          <p:cNvSpPr txBox="1"/>
          <p:nvPr/>
        </p:nvSpPr>
        <p:spPr>
          <a:xfrm>
            <a:off x="9523095" y="3328987"/>
            <a:ext cx="128016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293B"/>
                </a:solidFill>
                <a:latin typeface="Outfit"/>
              </a:rPr>
              <a:t>Componentes</a:t>
            </a:r>
          </a:p>
        </p:txBody>
      </p:sp>
      <p:sp>
        <p:nvSpPr>
          <p:cNvPr id="71" name="TextBox 15">
            <a:extLst>
              <a:ext uri="{FF2B5EF4-FFF2-40B4-BE49-F238E27FC236}">
                <a16:creationId xmlns:a16="http://schemas.microsoft.com/office/drawing/2014/main" id="{4D662398-37B6-4DBE-8D69-18CA3D6EFEA4}"/>
              </a:ext>
            </a:extLst>
          </p:cNvPr>
          <p:cNvSpPr txBox="1"/>
          <p:nvPr/>
        </p:nvSpPr>
        <p:spPr>
          <a:xfrm>
            <a:off x="8648700" y="3662362"/>
            <a:ext cx="3028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Formularios dinámicos, tarjetas de cultivos optimizadas y paginación clara.</a:t>
            </a:r>
          </a:p>
        </p:txBody>
      </p:sp>
      <p:sp>
        <p:nvSpPr>
          <p:cNvPr id="72" name="TextBox 16">
            <a:extLst>
              <a:ext uri="{FF2B5EF4-FFF2-40B4-BE49-F238E27FC236}">
                <a16:creationId xmlns:a16="http://schemas.microsoft.com/office/drawing/2014/main" id="{7304515B-121F-4DB8-AAFF-3DB919BB76A3}"/>
              </a:ext>
            </a:extLst>
          </p:cNvPr>
          <p:cNvSpPr txBox="1"/>
          <p:nvPr/>
        </p:nvSpPr>
        <p:spPr>
          <a:xfrm>
            <a:off x="876300" y="8763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Reto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 </a:t>
            </a:r>
            <a:r>
              <a:rPr lang="es-ES" sz="3000" b="1" i="0" u="none" dirty="0">
                <a:solidFill>
                  <a:srgbClr val="0F172A"/>
                </a:solidFill>
                <a:latin typeface="Outfit"/>
              </a:rPr>
              <a:t>3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: </a:t>
            </a:r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Diseño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 y </a:t>
            </a:r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Experiencia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 de </a:t>
            </a:r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Usuario</a:t>
            </a:r>
            <a:endParaRPr sz="3000" b="1" i="0" u="none" dirty="0">
              <a:solidFill>
                <a:srgbClr val="0F172A"/>
              </a:solidFill>
              <a:latin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81143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162300"/>
            <a:ext cx="8572500" cy="19716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4124325"/>
            <a:ext cx="7981950" cy="714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2100262"/>
            <a:ext cx="1778793" cy="676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318" y="2100262"/>
            <a:ext cx="1778793" cy="676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887" y="2100262"/>
            <a:ext cx="1778793" cy="676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3456" y="2000250"/>
            <a:ext cx="1778793" cy="876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Información controlada y trazable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1825" y="5372100"/>
            <a:ext cx="5848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047857"/>
                </a:solidFill>
                <a:latin typeface="Inter SemiBold"/>
              </a:rPr>
              <a:t>“Gestionar información también significa conocer cómo ha cambiado.”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5025" y="3457575"/>
            <a:ext cx="838104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Plus Jakarta Sans"/>
              </a:rPr>
              <a:t>Registro Histórico de Cambios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5025" y="3752850"/>
            <a:ext cx="7981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Cada modificación realizada sobre los cultivos queda registrada para garantizar auditoría interna.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1418" y="2324100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5987" y="2324100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0556" y="2324100"/>
            <a:ext cx="20002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86000" y="4267200"/>
            <a:ext cx="7658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monospace"/>
              </a:rPr>
              <a:t>[REGISTRO] Cultivo ID #104 - Actualización de estado a "Cosecha" por Usuario Admin (15/09/2026)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306" y="2300287"/>
            <a:ext cx="144768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CULTIVO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9875" y="2300287"/>
            <a:ext cx="144768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USUARIO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4443" y="2300287"/>
            <a:ext cx="144768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MOTIVO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9012" y="2200275"/>
            <a:ext cx="14476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CAMBIOS &amp; FECHA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3586162"/>
            <a:ext cx="4381500" cy="15716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3586162"/>
            <a:ext cx="4381500" cy="1571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2571750"/>
            <a:ext cx="1421159" cy="581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8559" y="2571750"/>
            <a:ext cx="1421159" cy="581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494" y="2571750"/>
            <a:ext cx="1421159" cy="581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2429" y="2471737"/>
            <a:ext cx="1421159" cy="781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9364" y="2471737"/>
            <a:ext cx="1421159" cy="781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Cada usuario tiene un nivel de acceso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5659" y="2747962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2594" y="2747962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529" y="2747962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6464" y="2747962"/>
            <a:ext cx="20002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66900" y="3881437"/>
            <a:ext cx="398049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Plus Jakarta Sans"/>
              </a:rPr>
              <a:t>Autenticación Robusta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6900" y="4176712"/>
            <a:ext cx="37909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Implementación de contraseñas cifradas y tokens de sesión JWT para garantizar la integridad de las peticiones.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3881437"/>
            <a:ext cx="398049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Plus Jakarta Sans"/>
              </a:rPr>
              <a:t>Roles y Permisos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4176712"/>
            <a:ext cx="37909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Protección de rutas en el sistema asegurando que cada operador acceda exclusivamente a lo permitido por su cargo.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6116" y="2724150"/>
            <a:ext cx="117217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3050" y="2724150"/>
            <a:ext cx="117217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VALIDACIÓN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9985" y="2724150"/>
            <a:ext cx="117217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JWT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6920" y="2624137"/>
            <a:ext cx="117217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ROL &amp; PERMISOS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3855" y="2624137"/>
            <a:ext cx="117217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47857"/>
                </a:solidFill>
                <a:latin typeface="Plus Jakarta Sans"/>
              </a:rPr>
              <a:t>ACCESO SEGURO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581275"/>
            <a:ext cx="4572000" cy="2466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2590800"/>
            <a:ext cx="4552950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3000375"/>
            <a:ext cx="4552950" cy="2038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876675"/>
            <a:ext cx="4572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333875"/>
            <a:ext cx="4572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791075"/>
            <a:ext cx="4572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3190875"/>
            <a:ext cx="417195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Diseñado para ser fácil de usar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2457450"/>
            <a:ext cx="48006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64E3B"/>
                </a:solidFill>
                <a:latin typeface="Plus Jakarta Sans"/>
              </a:rPr>
              <a:t>Navegación Intuitiva y Moderna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2914650"/>
            <a:ext cx="4572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Una interfaz limpia estructurada mediante una barra lateral accesible que facilita la transición entre módulos esenciales.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705225"/>
            <a:ext cx="3943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"/>
              </a:rPr>
              <a:t>Gestión de Cultivos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4143375"/>
            <a:ext cx="3943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"/>
              </a:rPr>
              <a:t>Lotes y Sublotes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4581525"/>
            <a:ext cx="3943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"/>
              </a:rPr>
              <a:t>Usuarios y Accesos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6375" y="3990975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6375" y="4448175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6375" y="490537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24150"/>
            <a:ext cx="2619375" cy="21812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2724150"/>
            <a:ext cx="2619375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724150"/>
            <a:ext cx="2619375" cy="2181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2724150"/>
            <a:ext cx="2619375" cy="2181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64E3B"/>
                </a:solidFill>
                <a:latin typeface="Plus Jakarta Sans"/>
              </a:rPr>
              <a:t>¿</a:t>
            </a:r>
            <a:r>
              <a:rPr lang="es-US" sz="3000" b="1" dirty="0">
                <a:solidFill>
                  <a:srgbClr val="064E3B"/>
                </a:solidFill>
                <a:latin typeface="Plus Jakarta Sans"/>
              </a:rPr>
              <a:t>tecnologías con las </a:t>
            </a:r>
            <a:r>
              <a:rPr sz="3000" b="1" i="0" u="none" dirty="0" err="1">
                <a:solidFill>
                  <a:srgbClr val="064E3B"/>
                </a:solidFill>
                <a:latin typeface="Plus Jakarta Sans"/>
              </a:rPr>
              <a:t>qué</a:t>
            </a:r>
            <a:r>
              <a:rPr sz="3000" b="1" i="0" u="none" dirty="0">
                <a:solidFill>
                  <a:srgbClr val="064E3B"/>
                </a:solidFill>
                <a:latin typeface="Plus Jakarta Sans"/>
              </a:rPr>
              <a:t> </a:t>
            </a:r>
            <a:r>
              <a:rPr sz="3000" b="1" i="0" u="none" dirty="0" err="1">
                <a:solidFill>
                  <a:srgbClr val="064E3B"/>
                </a:solidFill>
                <a:latin typeface="Plus Jakarta Sans"/>
              </a:rPr>
              <a:t>construimos</a:t>
            </a:r>
            <a:r>
              <a:rPr sz="3000" b="1" i="0" u="none" dirty="0">
                <a:solidFill>
                  <a:srgbClr val="064E3B"/>
                </a:solidFill>
                <a:latin typeface="Plus Jakarta Sans"/>
              </a:rPr>
              <a:t> </a:t>
            </a:r>
            <a:r>
              <a:rPr sz="3000" b="1" i="0" u="none" dirty="0" err="1">
                <a:solidFill>
                  <a:srgbClr val="064E3B"/>
                </a:solidFill>
                <a:latin typeface="Plus Jakarta Sans"/>
              </a:rPr>
              <a:t>AgroSoft</a:t>
            </a:r>
            <a:r>
              <a:rPr sz="3000" b="1" i="0" u="none" dirty="0">
                <a:solidFill>
                  <a:srgbClr val="064E3B"/>
                </a:solidFill>
                <a:latin typeface="Plus Jakarta Sans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019425"/>
            <a:ext cx="213026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7857"/>
                </a:solidFill>
                <a:latin typeface="Plus Jakarta San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6650" y="3019425"/>
            <a:ext cx="213026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7857"/>
                </a:solidFill>
                <a:latin typeface="Plus Jakarta Sans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3019425"/>
            <a:ext cx="213026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7857"/>
                </a:solidFill>
                <a:latin typeface="Plus Jakarta Sans"/>
              </a:rPr>
              <a:t>BASE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0" y="3019425"/>
            <a:ext cx="213026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7857"/>
                </a:solidFill>
                <a:latin typeface="Plus Jakarta Sans"/>
              </a:rPr>
              <a:t>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352800"/>
            <a:ext cx="20288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React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(IU)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686175"/>
            <a:ext cx="20288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Vite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(Entorno)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4019550"/>
            <a:ext cx="20288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Tailwind CSS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(Estilos)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352925"/>
            <a:ext cx="20288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Axios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(API Client)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352800"/>
            <a:ext cx="20288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NestJS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(API REST)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6650" y="3686175"/>
            <a:ext cx="20288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TypeScript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(Sistema)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352800"/>
            <a:ext cx="20288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PostgreSQL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(Storage)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686175"/>
            <a:ext cx="20288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TypeORM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(ORM Mapping)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3352800"/>
            <a:ext cx="20288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Docker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(Contenedores)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400" y="3686175"/>
            <a:ext cx="20288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Git + GitHub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(Control)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49872"/>
            <a:ext cx="1607790" cy="1762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140" y="2549872"/>
            <a:ext cx="1607790" cy="1762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030" y="2549872"/>
            <a:ext cx="1607790" cy="1762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920" y="2264122"/>
            <a:ext cx="1607790" cy="2333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810" y="2549872"/>
            <a:ext cx="1607790" cy="1762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5731222"/>
            <a:ext cx="3048000" cy="7334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2795" y="3388072"/>
            <a:ext cx="132204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2795" y="3750022"/>
            <a:ext cx="132204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2795" y="4111972"/>
            <a:ext cx="1322040" cy="3238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64E3B"/>
                </a:solidFill>
                <a:latin typeface="Plus Jakarta Sans"/>
              </a:rPr>
              <a:t>¿Cómo está construido AgroSoft?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" y="847725"/>
            <a:ext cx="11239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Una arquitectura organizada que conecta al usuario con la información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9095" y="2711797"/>
            <a:ext cx="36195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5035" y="3168997"/>
            <a:ext cx="57007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Usuario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033" y="3378547"/>
            <a:ext cx="600075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9125" y="3635722"/>
            <a:ext cx="1322040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Plus Jakarta Sans"/>
              </a:rPr>
              <a:t>El usuario utiliza AgroSoft para gestionar sus labores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17415" y="3278534"/>
            <a:ext cx="13335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98340" y="3449984"/>
            <a:ext cx="571500" cy="133350"/>
          </a:xfrm>
          <a:prstGeom prst="rect">
            <a:avLst/>
          </a:prstGeom>
          <a:solidFill>
            <a:srgbClr val="F8FAFC"/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475569"/>
                </a:solidFill>
                <a:latin typeface="Plus Jakarta Sans Medium"/>
              </a:rPr>
              <a:t>Interactúa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6985" y="2711797"/>
            <a:ext cx="361950" cy="3619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347918" y="3168997"/>
            <a:ext cx="68008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Frontend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83148" y="3378547"/>
            <a:ext cx="809625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027015" y="3635722"/>
            <a:ext cx="132204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Plus Jakarta Sans"/>
              </a:rPr>
              <a:t>Interfaz visual que ve y utiliza el usuario diario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5305" y="3278534"/>
            <a:ext cx="13335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06230" y="3449984"/>
            <a:ext cx="571500" cy="133350"/>
          </a:xfrm>
          <a:prstGeom prst="rect">
            <a:avLst/>
          </a:prstGeom>
          <a:solidFill>
            <a:srgbClr val="F8FAFC"/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475569"/>
                </a:solidFill>
                <a:latin typeface="Plus Jakarta Sans Medium"/>
              </a:rPr>
              <a:t>Envía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4876" y="2711797"/>
            <a:ext cx="361950" cy="3619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5786" y="3168997"/>
            <a:ext cx="104013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API / Backend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9151" y="3378547"/>
            <a:ext cx="533400" cy="1809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34905" y="3635722"/>
            <a:ext cx="1322040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Plus Jakarta Sans"/>
              </a:rPr>
              <a:t>Recibe y procesa todas las solicitudes del sistema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3195" y="3278534"/>
            <a:ext cx="13335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14120" y="3449984"/>
            <a:ext cx="571500" cy="133350"/>
          </a:xfrm>
          <a:prstGeom prst="rect">
            <a:avLst/>
          </a:prstGeom>
          <a:solidFill>
            <a:srgbClr val="F8FAFC"/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475569"/>
                </a:solidFill>
                <a:latin typeface="Plus Jakarta Sans Medium"/>
              </a:rPr>
              <a:t>Procesa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2766" y="2426047"/>
            <a:ext cx="361950" cy="3619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108692" y="2883247"/>
            <a:ext cx="79009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Hexagonal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13191" y="3092797"/>
            <a:ext cx="1181100" cy="1809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41085" y="3278534"/>
            <a:ext cx="133350" cy="152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422010" y="3449984"/>
            <a:ext cx="571500" cy="133350"/>
          </a:xfrm>
          <a:prstGeom prst="rect">
            <a:avLst/>
          </a:prstGeom>
          <a:solidFill>
            <a:srgbClr val="F8FAFC"/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475569"/>
                </a:solidFill>
                <a:latin typeface="Plus Jakarta Sans Medium"/>
              </a:rPr>
              <a:t>Guarda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30656" y="2711797"/>
            <a:ext cx="361950" cy="3619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386566" y="3168997"/>
            <a:ext cx="105013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Base de Datos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97294" y="3378547"/>
            <a:ext cx="828675" cy="1809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50685" y="3635722"/>
            <a:ext cx="1322040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Plus Jakarta Sans"/>
              </a:rPr>
              <a:t>Guarda de forma segura la información del sistema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04851" y="5978872"/>
            <a:ext cx="9525" cy="2381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05250" y="5983634"/>
            <a:ext cx="171450" cy="2286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13395" y="2816572"/>
            <a:ext cx="133350" cy="152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02235" y="2816572"/>
            <a:ext cx="171450" cy="152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9651" y="2816572"/>
            <a:ext cx="152400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18016" y="2530822"/>
            <a:ext cx="171450" cy="152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844956" y="2816572"/>
            <a:ext cx="133350" cy="1524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8975" y="5874097"/>
            <a:ext cx="219075" cy="1714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43468" y="6083647"/>
            <a:ext cx="71008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E293B"/>
                </a:solidFill>
                <a:latin typeface="Plus Jakarta Sans"/>
              </a:rPr>
              <a:t>Docker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375" y="6226522"/>
            <a:ext cx="6762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4748B"/>
                </a:solidFill>
                <a:latin typeface="Plus Jakarta Sans"/>
              </a:rPr>
              <a:t>Contenedores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635001" y="5874097"/>
            <a:ext cx="152400" cy="1714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261145" y="6083647"/>
            <a:ext cx="9001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E293B"/>
                </a:solidFill>
                <a:latin typeface="Plus Jakarta Sans"/>
              </a:rPr>
              <a:t>Git + GitHub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2576" y="6226522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4748B"/>
                </a:solidFill>
                <a:latin typeface="Plus Jakarta Sans"/>
              </a:rPr>
              <a:t>Control de código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29100" y="5852219"/>
            <a:ext cx="766095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Plus Jakarta Sans"/>
              </a:rPr>
              <a:t>¿POR QUÉ ESTA ARQUITECTURA?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9100" y="6023669"/>
            <a:ext cx="729615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ECFDF5"/>
                </a:solidFill>
                <a:latin typeface="Plus Jakarta Sans"/>
              </a:rPr>
              <a:t>Porque permite mantener cada parte del sistema organizada, facilita agregar nuevas funcionalidades y asegura un crecimiento ordenado y escalable.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470" y="3426172"/>
            <a:ext cx="11886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Domain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470" y="3559522"/>
            <a:ext cx="3048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Plus Jakarta Sans"/>
              </a:rPr>
              <a:t>Reglas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470" y="3788122"/>
            <a:ext cx="11886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Application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9470" y="3921472"/>
            <a:ext cx="6286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Plus Jakarta Sans"/>
              </a:rPr>
              <a:t>Casos de uso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470" y="4150072"/>
            <a:ext cx="11886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Infrastructure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470" y="4283422"/>
            <a:ext cx="4476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Plus Jakarta Sans"/>
              </a:rPr>
              <a:t>Conexión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95500"/>
            <a:ext cx="3524250" cy="1600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095500"/>
            <a:ext cx="3524250" cy="1600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095500"/>
            <a:ext cx="3524250" cy="1600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33825"/>
            <a:ext cx="3524250" cy="1600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3933825"/>
            <a:ext cx="3524250" cy="1600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3933825"/>
            <a:ext cx="352425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¿Cómo se está llevando a cabo?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419350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059669"/>
                </a:solidFill>
                <a:latin typeface="Inter Extra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2724150"/>
            <a:ext cx="30803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Plus Jakarta Sans"/>
              </a:rPr>
              <a:t>ANÁLISIS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000375"/>
            <a:ext cx="2933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Identificación de necesidades y alcance del sistema web.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150" y="2419350"/>
            <a:ext cx="2190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059669"/>
                </a:solidFill>
                <a:latin typeface="Inter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9150" y="2724150"/>
            <a:ext cx="30803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Plus Jakarta Sans"/>
              </a:rPr>
              <a:t>DISEÑO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3000375"/>
            <a:ext cx="2933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Definición de interfaces, flujos y estructura general.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2419350"/>
            <a:ext cx="228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059669"/>
                </a:solidFill>
                <a:latin typeface="Inter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2724150"/>
            <a:ext cx="30803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Plus Jakarta San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000375"/>
            <a:ext cx="2933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Creación de API REST, lógica y conexión con PostgreSQL.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4257675"/>
            <a:ext cx="228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059669"/>
                </a:solidFill>
                <a:latin typeface="Inter Extra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4562475"/>
            <a:ext cx="30803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Plus Jakarta Sans"/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4838700"/>
            <a:ext cx="2933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Construcción de componentes visuales en React.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9150" y="4257675"/>
            <a:ext cx="2190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059669"/>
                </a:solidFill>
                <a:latin typeface="Inter Extra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9150" y="4562475"/>
            <a:ext cx="30803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Plus Jakarta Sans"/>
              </a:rPr>
              <a:t>INTEGRACIÓN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9150" y="4838700"/>
            <a:ext cx="29337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Comunicación cliente-servidor mediante Axios.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1525" y="4257675"/>
            <a:ext cx="228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059669"/>
                </a:solidFill>
                <a:latin typeface="Inter ExtraBold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1525" y="4562475"/>
            <a:ext cx="30803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Plus Jakarta Sans"/>
              </a:rPr>
              <a:t>PRUEBAS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1525" y="4838700"/>
            <a:ext cx="29337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Validación de datos, corrección y refinamiento.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31268"/>
            <a:ext cx="3524250" cy="1295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2531268"/>
            <a:ext cx="3524250" cy="129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531268"/>
            <a:ext cx="3524250" cy="1295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17168"/>
            <a:ext cx="5381625" cy="10810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4017168"/>
            <a:ext cx="5381625" cy="10810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¿Qué aporta AgroSoft?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826543"/>
            <a:ext cx="30803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ORGANIZACIÓN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102768"/>
            <a:ext cx="2933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Información estructurada mediante módulos especializados.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9150" y="2826543"/>
            <a:ext cx="30803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CENTRALIZACIÓN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3102768"/>
            <a:ext cx="2933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Datos gestionados desde una única plataforma web.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2826543"/>
            <a:ext cx="30803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102768"/>
            <a:ext cx="2933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Administración de usuarios, roles y permisos.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312443"/>
            <a:ext cx="503062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TRAZABILIDAD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4588668"/>
            <a:ext cx="47910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Registro histórico de cambios asociados a los cultivos.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4312443"/>
            <a:ext cx="503062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ESCALABILIDAD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4588668"/>
            <a:ext cx="47910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Arquitectura preparada para incorporar nuevas herramientas.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25653" y="1905000"/>
            <a:ext cx="5540692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0" i="0" u="none">
                <a:solidFill>
                  <a:srgbClr val="FFFFFF"/>
                </a:solidFill>
                <a:latin typeface="Plus Jakarta Sans ExtraBold"/>
              </a:rPr>
              <a:t>AGROSOFT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57575" y="2667000"/>
            <a:ext cx="5276850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lang="es-US" sz="1650" dirty="0">
                <a:solidFill>
                  <a:srgbClr val="A7F3D0"/>
                </a:solidFill>
                <a:latin typeface="Inter"/>
              </a:rPr>
              <a:t>Sistema </a:t>
            </a:r>
            <a:r>
              <a:rPr sz="1650" b="0" i="0" u="none" dirty="0">
                <a:solidFill>
                  <a:srgbClr val="A7F3D0"/>
                </a:solidFill>
                <a:latin typeface="Inter"/>
              </a:rPr>
              <a:t> para </a:t>
            </a:r>
            <a:r>
              <a:rPr sz="1650" b="0" i="0" u="none" dirty="0" err="1">
                <a:solidFill>
                  <a:srgbClr val="A7F3D0"/>
                </a:solidFill>
                <a:latin typeface="Inter"/>
              </a:rPr>
              <a:t>una</a:t>
            </a:r>
            <a:r>
              <a:rPr sz="1650" b="0" i="0" u="none" dirty="0">
                <a:solidFill>
                  <a:srgbClr val="A7F3D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A7F3D0"/>
                </a:solidFill>
                <a:latin typeface="Inter"/>
              </a:rPr>
              <a:t>gestión</a:t>
            </a:r>
            <a:r>
              <a:rPr sz="1650" b="0" i="0" u="none" dirty="0">
                <a:solidFill>
                  <a:srgbClr val="A7F3D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A7F3D0"/>
                </a:solidFill>
                <a:latin typeface="Inter"/>
              </a:rPr>
              <a:t>agrícola</a:t>
            </a:r>
            <a:r>
              <a:rPr sz="1650" b="0" i="0" u="none" dirty="0">
                <a:solidFill>
                  <a:srgbClr val="A7F3D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A7F3D0"/>
                </a:solidFill>
                <a:latin typeface="Inter"/>
              </a:rPr>
              <a:t>más</a:t>
            </a:r>
            <a:r>
              <a:rPr sz="1650" b="0" i="0" u="none" dirty="0">
                <a:solidFill>
                  <a:srgbClr val="A7F3D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A7F3D0"/>
                </a:solidFill>
                <a:latin typeface="Inter"/>
              </a:rPr>
              <a:t>organizada</a:t>
            </a:r>
            <a:r>
              <a:rPr sz="1650" b="0" i="0" u="none" dirty="0">
                <a:solidFill>
                  <a:srgbClr val="A7F3D0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7575" y="3267075"/>
            <a:ext cx="52768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EE7B7"/>
                </a:solidFill>
                <a:latin typeface="Inter"/>
              </a:rPr>
              <a:t>CONECTA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1" i="0" u="none">
                <a:solidFill>
                  <a:srgbClr val="6EE7B7"/>
                </a:solidFill>
                <a:latin typeface="Inter"/>
              </a:rPr>
              <a:t>•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1" i="0" u="none">
                <a:solidFill>
                  <a:srgbClr val="6EE7B7"/>
                </a:solidFill>
                <a:latin typeface="Inter"/>
              </a:rPr>
              <a:t>ORGANIZA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1" i="0" u="none">
                <a:solidFill>
                  <a:srgbClr val="6EE7B7"/>
                </a:solidFill>
                <a:latin typeface="Inter"/>
              </a:rPr>
              <a:t>•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1" i="0" u="none">
                <a:solidFill>
                  <a:srgbClr val="6EE7B7"/>
                </a:solidFill>
                <a:latin typeface="Inter"/>
              </a:rPr>
              <a:t>GESTIONA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5653" y="4524375"/>
            <a:ext cx="554069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FFFFFF"/>
                </a:solidFill>
                <a:latin typeface="Plus Jakarta Sans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1517</Words>
  <Application>Microsoft Office PowerPoint</Application>
  <PresentationFormat>Panorámica</PresentationFormat>
  <Paragraphs>281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9" baseType="lpstr">
      <vt:lpstr>Arial</vt:lpstr>
      <vt:lpstr>Calibri</vt:lpstr>
      <vt:lpstr>Inter</vt:lpstr>
      <vt:lpstr>Inter ExtraBold</vt:lpstr>
      <vt:lpstr>Inter SemiBold</vt:lpstr>
      <vt:lpstr>monospace</vt:lpstr>
      <vt:lpstr>Outfit</vt:lpstr>
      <vt:lpstr>Plus Jakarta Sans</vt:lpstr>
      <vt:lpstr>Plus Jakarta Sans ExtraBold</vt:lpstr>
      <vt:lpstr>Plus Jakarta Sans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Adminsena</dc:creator>
  <cp:keywords/>
  <dc:description>generated using python-pptx</dc:description>
  <cp:lastModifiedBy>USUARIO</cp:lastModifiedBy>
  <cp:revision>3</cp:revision>
  <dcterms:created xsi:type="dcterms:W3CDTF">2013-01-27T09:14:16Z</dcterms:created>
  <dcterms:modified xsi:type="dcterms:W3CDTF">2026-09-18T00:51:00Z</dcterms:modified>
  <cp:category/>
</cp:coreProperties>
</file>